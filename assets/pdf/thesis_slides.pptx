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316" r:id="rId2"/>
    <p:sldId id="303" r:id="rId3"/>
    <p:sldId id="335" r:id="rId4"/>
    <p:sldId id="317" r:id="rId5"/>
    <p:sldId id="322" r:id="rId6"/>
    <p:sldId id="345" r:id="rId7"/>
    <p:sldId id="343" r:id="rId8"/>
    <p:sldId id="348" r:id="rId9"/>
    <p:sldId id="351" r:id="rId10"/>
    <p:sldId id="352" r:id="rId11"/>
    <p:sldId id="349" r:id="rId12"/>
    <p:sldId id="337" r:id="rId13"/>
    <p:sldId id="329" r:id="rId14"/>
    <p:sldId id="325" r:id="rId15"/>
    <p:sldId id="327" r:id="rId16"/>
    <p:sldId id="326" r:id="rId17"/>
    <p:sldId id="323" r:id="rId18"/>
    <p:sldId id="328" r:id="rId19"/>
    <p:sldId id="339" r:id="rId20"/>
    <p:sldId id="330" r:id="rId21"/>
    <p:sldId id="331" r:id="rId22"/>
    <p:sldId id="334" r:id="rId23"/>
    <p:sldId id="332" r:id="rId24"/>
    <p:sldId id="336" r:id="rId25"/>
    <p:sldId id="340" r:id="rId26"/>
    <p:sldId id="344" r:id="rId27"/>
    <p:sldId id="342" r:id="rId28"/>
    <p:sldId id="341" r:id="rId29"/>
    <p:sldId id="338" r:id="rId30"/>
    <p:sldId id="320" r:id="rId31"/>
    <p:sldId id="319" r:id="rId32"/>
    <p:sldId id="318" r:id="rId33"/>
    <p:sldId id="315" r:id="rId34"/>
    <p:sldId id="304" r:id="rId35"/>
    <p:sldId id="307" r:id="rId36"/>
    <p:sldId id="305" r:id="rId37"/>
    <p:sldId id="306" r:id="rId38"/>
    <p:sldId id="308" r:id="rId39"/>
    <p:sldId id="309" r:id="rId40"/>
    <p:sldId id="310" r:id="rId41"/>
    <p:sldId id="311" r:id="rId42"/>
    <p:sldId id="312" r:id="rId43"/>
  </p:sldIdLst>
  <p:sldSz cx="9144000" cy="6858000" type="letter"/>
  <p:notesSz cx="672941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2"/>
        </a:solidFill>
        <a:latin typeface="Arial" panose="020B0604020202020204" pitchFamily="34" charset="0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8" autoAdjust="0"/>
    <p:restoredTop sz="96327" autoAdjust="0"/>
  </p:normalViewPr>
  <p:slideViewPr>
    <p:cSldViewPr>
      <p:cViewPr varScale="1">
        <p:scale>
          <a:sx n="224" d="100"/>
          <a:sy n="224" d="100"/>
        </p:scale>
        <p:origin x="164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EBEF6E4B-5A7C-3AAA-C852-02BFDC7A4C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76D268AC-FEB3-EDB5-F8BB-D2FC18E459A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1588" y="0"/>
            <a:ext cx="29162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4B3A1CE3-41B0-784E-BFBB-A2A662B98F1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1013"/>
            <a:ext cx="29162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sz="1200" b="0">
                <a:solidFill>
                  <a:schemeClr val="tx1"/>
                </a:solidFill>
                <a:latin typeface="Times New Roman" pitchFamily="18" charset="0"/>
                <a:ea typeface="Arial Unicode MS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BDA06800-DE96-13A2-410D-BCA88DE71FA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1588" y="9371013"/>
            <a:ext cx="29162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fld id="{A5ADBCAE-5DBB-A24E-A0D4-446683EB9300}" type="slidenum">
              <a:rPr lang="ja-JP" altLang="en-US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531534-8DF1-13E8-0E21-C85751E6EC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485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spcBef>
                <a:spcPct val="20000"/>
              </a:spcBef>
              <a:buFontTx/>
              <a:buChar char="•"/>
              <a:defRPr sz="1200">
                <a:latin typeface="Arial" pitchFamily="34" charset="0"/>
                <a:ea typeface="Arial Unicode MS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6C6A37D-8D2F-4718-A3A8-D2FCF22FD25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0950" y="0"/>
            <a:ext cx="2916238" cy="485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spcBef>
                <a:spcPct val="20000"/>
              </a:spcBef>
              <a:buFontTx/>
              <a:buChar char="•"/>
              <a:defRPr sz="1200">
                <a:latin typeface="Arial" pitchFamily="34" charset="0"/>
                <a:ea typeface="Arial Unicode MS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455405D-2BBC-38D2-399D-9185AE59162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727075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C5767A08-441C-A546-4AAC-8A95848161F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4713" y="4691063"/>
            <a:ext cx="4957762" cy="444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noProof="0"/>
              <a:t>Click to edit Master text styles</a:t>
            </a:r>
          </a:p>
          <a:p>
            <a:pPr lvl="1"/>
            <a:r>
              <a:rPr lang="en-US" altLang="ja-JP" noProof="0"/>
              <a:t>Second level</a:t>
            </a:r>
          </a:p>
          <a:p>
            <a:pPr lvl="2"/>
            <a:r>
              <a:rPr lang="en-US" altLang="ja-JP" noProof="0"/>
              <a:t>Third level</a:t>
            </a:r>
          </a:p>
          <a:p>
            <a:pPr lvl="3"/>
            <a:r>
              <a:rPr lang="en-US" altLang="ja-JP" noProof="0"/>
              <a:t>Fourth level</a:t>
            </a:r>
          </a:p>
          <a:p>
            <a:pPr lvl="4"/>
            <a:r>
              <a:rPr lang="en-US" altLang="ja-JP" noProof="0"/>
              <a:t>Fifth level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91D5167E-4542-2708-A3EC-C8A1636620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16238" cy="485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spcBef>
                <a:spcPct val="20000"/>
              </a:spcBef>
              <a:buFontTx/>
              <a:buChar char="•"/>
              <a:defRPr sz="1200">
                <a:latin typeface="Arial" pitchFamily="34" charset="0"/>
                <a:ea typeface="Arial Unicode MS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7CB4598B-EA56-74DE-3A4C-09790F438C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0950" y="9380538"/>
            <a:ext cx="2916238" cy="485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fld id="{D829967F-93BE-7C43-8F55-B18E44DEFAA0}" type="slidenum">
              <a:rPr lang="ja-JP" altLang="en-US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E38944F-FF4D-2729-7E72-1203EDD3CA5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BD806-6F86-F645-8042-5B9CF61E8832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4621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7039E64-32C0-7635-AAA4-A3F067266F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3B0715-B72E-9147-AC7E-39DCCCD0D146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6054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5FA1BF-B951-67C2-1471-A37C1A8FF2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671216-A14F-1A47-8B2E-9A4D6D855E55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355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196975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953460A-D293-7564-4041-16760B04AE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ABF75A-66A7-8D4C-9732-B83FA2A5CF63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9324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FE2178-D800-F47A-8C83-8382293B0B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AAD11-C381-2444-BA60-0668D34C0BB5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250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4EE60C2-C568-C2EA-4FBB-4142DEBD4F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94AFAE-D760-1045-BB66-2073094B6999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2897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1C35E28-3E6F-A6B8-0926-7AB5AE23E3B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3C8221-2205-F94C-B97C-6EFA84598CF6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7909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B164084-D433-9D0C-4DFE-07DACEEAFC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A61D27-D896-4442-81E2-4441DC3433D3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5790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38CCB9-EC05-F14E-8EBF-EC20FF3986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470D9F-CC21-3044-87E1-B1E32EAFFFCA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707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210248-407B-0FCF-704B-58F1AD2A9FF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19B2C6-64FE-274A-900F-A5EF822037BF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3343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219075"/>
            <a:ext cx="2286000" cy="56261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219075"/>
            <a:ext cx="6705600" cy="56261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6DDC8F-ECA0-D86B-25C7-D62185E43E9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A601ED-BE79-DD46-A0B7-4DD2BBA3A9F6}" type="slidenum">
              <a:rPr lang="ja-JP" altLang="en-US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0368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CC0CCB7-60C5-14C8-4939-99C1E9F5E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19075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2961EC9-DF84-9759-58B6-21EE9AAA6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96975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020A05B-F090-DB59-7FC8-4FA3C5793F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4213" y="6381750"/>
            <a:ext cx="77755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00" b="0">
                <a:solidFill>
                  <a:schemeClr val="tx1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fld id="{4F7CA2E4-67D7-7342-ADB5-399E3C959A36}" type="slidenum">
              <a:rPr lang="ja-JP" altLang="en-US"/>
              <a:pPr/>
              <a:t>‹#›</a:t>
            </a:fld>
            <a:endParaRPr lang="en-US" altLang="ja-JP"/>
          </a:p>
        </p:txBody>
      </p:sp>
      <p:sp>
        <p:nvSpPr>
          <p:cNvPr id="1029" name="Rectangle 7">
            <a:extLst>
              <a:ext uri="{FF2B5EF4-FFF2-40B4-BE49-F238E27FC236}">
                <a16:creationId xmlns:a16="http://schemas.microsoft.com/office/drawing/2014/main" id="{812D2082-50EE-64BB-ECFF-D5293EB038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963613"/>
            <a:ext cx="9144000" cy="889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굴림" charset="-127"/>
              </a:defRPr>
            </a:lvl9pPr>
          </a:lstStyle>
          <a:p>
            <a:pPr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23876016-D505-B202-DCC0-76020B3DD7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50838" y="3122613"/>
            <a:ext cx="8397875" cy="2119312"/>
          </a:xfrm>
        </p:spPr>
        <p:txBody>
          <a:bodyPr lIns="93600" rIns="93600"/>
          <a:lstStyle/>
          <a:p>
            <a:pPr>
              <a:lnSpc>
                <a:spcPct val="89000"/>
              </a:lnSpc>
            </a:pPr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Kha Dinh Duy</a:t>
            </a:r>
          </a:p>
          <a:p>
            <a:pPr>
              <a:lnSpc>
                <a:spcPct val="89000"/>
              </a:lnSpc>
            </a:pPr>
            <a:endParaRPr lang="en-US" altLang="ja-JP" baseline="30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89000"/>
              </a:lnSpc>
            </a:pPr>
            <a:endParaRPr lang="en-US" altLang="ja-JP" b="0" baseline="30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89000"/>
              </a:lnSpc>
            </a:pPr>
            <a:r>
              <a:rPr lang="en-US" altLang="ja-JP" sz="24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Sungkyunkwan University</a:t>
            </a:r>
          </a:p>
          <a:p>
            <a:pPr>
              <a:lnSpc>
                <a:spcPct val="89000"/>
              </a:lnSpc>
            </a:pPr>
            <a:r>
              <a:rPr lang="en-US" altLang="ja-JP" sz="24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Department of Computer Science and Engineering</a:t>
            </a:r>
          </a:p>
          <a:p>
            <a:pPr>
              <a:lnSpc>
                <a:spcPct val="89000"/>
              </a:lnSpc>
            </a:pPr>
            <a:endParaRPr lang="en-US" altLang="ja-JP" sz="2400" i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89000"/>
              </a:lnSpc>
            </a:pPr>
            <a:r>
              <a:rPr lang="en-US" altLang="ja-JP" sz="2400" i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System Security Lab</a:t>
            </a:r>
          </a:p>
          <a:p>
            <a:pPr>
              <a:lnSpc>
                <a:spcPct val="89000"/>
              </a:lnSpc>
            </a:pPr>
            <a:endParaRPr lang="en-US" altLang="ja-JP" i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E16FAD98-DFD3-6DC3-946B-2880309A4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9144000" cy="3603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4101" name="Rectangle 7">
            <a:extLst>
              <a:ext uri="{FF2B5EF4-FFF2-40B4-BE49-F238E27FC236}">
                <a16:creationId xmlns:a16="http://schemas.microsoft.com/office/drawing/2014/main" id="{1D6EB5F8-BD65-AC4F-8323-19C289210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9144000" cy="503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BDC4C8DB-8E17-B220-78F6-9B8DB1E6FEA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560" y="1413686"/>
            <a:ext cx="7939284" cy="1295234"/>
          </a:xfrm>
        </p:spPr>
        <p:txBody>
          <a:bodyPr lIns="93600" rIns="93600" anchor="b"/>
          <a:lstStyle/>
          <a:p>
            <a:pPr>
              <a:lnSpc>
                <a:spcPct val="90000"/>
              </a:lnSpc>
            </a:pPr>
            <a:r>
              <a:rPr lang="en-US" altLang="ja-JP" sz="36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Retrofitting Operating System Security for Modern Hardware Protections</a:t>
            </a:r>
            <a:endParaRPr lang="ja-JP" altLang="en-US" sz="36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4104" name="Picture 8" descr="성균관대학교 | 대학정보 | 성대역사 / 상징 | 성대 UI | 엠블렘">
            <a:extLst>
              <a:ext uri="{FF2B5EF4-FFF2-40B4-BE49-F238E27FC236}">
                <a16:creationId xmlns:a16="http://schemas.microsoft.com/office/drawing/2014/main" id="{885B016D-78EC-FF2E-6799-3CD8B25934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9" t="8809" r="6469" b="9024"/>
          <a:stretch>
            <a:fillRect/>
          </a:stretch>
        </p:blipFill>
        <p:spPr bwMode="auto">
          <a:xfrm>
            <a:off x="618991" y="5495111"/>
            <a:ext cx="1259632" cy="119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SSLab Logo">
            <a:extLst>
              <a:ext uri="{FF2B5EF4-FFF2-40B4-BE49-F238E27FC236}">
                <a16:creationId xmlns:a16="http://schemas.microsoft.com/office/drawing/2014/main" id="{636CADF0-1A26-6FE2-B077-EDC11E67D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077" y="5906471"/>
            <a:ext cx="2106636" cy="66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3">
            <a:extLst>
              <a:ext uri="{FF2B5EF4-FFF2-40B4-BE49-F238E27FC236}">
                <a16:creationId xmlns:a16="http://schemas.microsoft.com/office/drawing/2014/main" id="{BDC1BDFE-67A8-58EA-8E0B-8EDA18DA0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3A091D-B5B0-0B42-BB7D-DC8006DFC260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800" b="0" dirty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B49BF94-DE19-E5CD-D197-68471CA1F1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Outline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0E84BD4-D480-56C2-53C7-6F018EBE9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1485900"/>
            <a:ext cx="7772400" cy="4103688"/>
          </a:xfrm>
        </p:spPr>
        <p:txBody>
          <a:bodyPr/>
          <a:lstStyle/>
          <a:p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</a:t>
            </a:r>
          </a:p>
          <a:p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Background</a:t>
            </a:r>
          </a:p>
          <a:p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Approach</a:t>
            </a:r>
          </a:p>
          <a:p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Capacity &amp; </a:t>
            </a:r>
            <a:r>
              <a:rPr lang="en-US" altLang="ja-JP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IncognitOS</a:t>
            </a:r>
            <a:endParaRPr lang="en-US" altLang="ja-JP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B920C-6C79-8E46-F469-A7B9C999E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3</a:t>
            </a:fld>
            <a:endParaRPr lang="en-US" altLang="ja-JP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9E0776D-A438-141A-5FC5-B5BF60F29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9144000" cy="503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FEF2D49-C404-3B04-1BEE-7A996B1E14D0}"/>
              </a:ext>
            </a:extLst>
          </p:cNvPr>
          <p:cNvSpPr txBox="1">
            <a:spLocks noChangeArrowheads="1"/>
          </p:cNvSpPr>
          <p:nvPr/>
        </p:nvSpPr>
        <p:spPr>
          <a:xfrm>
            <a:off x="602358" y="2060848"/>
            <a:ext cx="7939284" cy="1295234"/>
          </a:xfrm>
          <a:prstGeom prst="rect">
            <a:avLst/>
          </a:prstGeom>
        </p:spPr>
        <p:txBody>
          <a:bodyPr lIns="93600" rIns="9360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ja-JP" sz="440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</a:t>
            </a:r>
            <a:endParaRPr lang="ja-JP" altLang="en-US" sz="3600" kern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500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35DC-C39B-ED12-D6F7-B7F1CC93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OS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0343D-A294-4C04-6657-7A9A3802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96975"/>
            <a:ext cx="7772400" cy="2808089"/>
          </a:xfrm>
        </p:spPr>
        <p:txBody>
          <a:bodyPr/>
          <a:lstStyle/>
          <a:p>
            <a:r>
              <a:rPr lang="en-KR" b="0" dirty="0"/>
              <a:t>Operating Systems (O</a:t>
            </a:r>
            <a:r>
              <a:rPr lang="en-US" b="0" dirty="0"/>
              <a:t>S</a:t>
            </a:r>
            <a:r>
              <a:rPr lang="en-KR" b="0" dirty="0"/>
              <a:t>es) underpin modern system security</a:t>
            </a:r>
          </a:p>
          <a:p>
            <a:r>
              <a:rPr lang="en-KR" b="0" dirty="0"/>
              <a:t>O</a:t>
            </a:r>
            <a:r>
              <a:rPr lang="en-US" b="0" dirty="0"/>
              <a:t>S</a:t>
            </a:r>
            <a:r>
              <a:rPr lang="en-KR" b="0" dirty="0"/>
              <a:t>es enforce a </a:t>
            </a:r>
            <a:r>
              <a:rPr lang="en-KR" dirty="0"/>
              <a:t>protection* </a:t>
            </a:r>
            <a:r>
              <a:rPr lang="en-KR" b="0" dirty="0"/>
              <a:t>system to control access between </a:t>
            </a:r>
            <a:r>
              <a:rPr lang="en-KR" dirty="0"/>
              <a:t>subjects</a:t>
            </a:r>
            <a:r>
              <a:rPr lang="en-KR" b="0" dirty="0"/>
              <a:t> and </a:t>
            </a:r>
            <a:r>
              <a:rPr lang="en-KR" dirty="0"/>
              <a:t>objects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EDC84-EAD0-0C0B-3313-7FC69073A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4</a:t>
            </a:fld>
            <a:endParaRPr lang="en-US" altLang="ja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52A7D-1A5D-C819-67F7-732DAF3AEF10}"/>
              </a:ext>
            </a:extLst>
          </p:cNvPr>
          <p:cNvSpPr txBox="1"/>
          <p:nvPr/>
        </p:nvSpPr>
        <p:spPr>
          <a:xfrm>
            <a:off x="467544" y="5881832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800" b="0" dirty="0"/>
              <a:t>*</a:t>
            </a:r>
            <a:r>
              <a:rPr lang="en-US" sz="1800" b="0" dirty="0"/>
              <a:t>Butler W. Lampson. 1974. Protection. SIGOPS Oper. Syst. Rev. 8, 1 (January 1974)</a:t>
            </a:r>
            <a:endParaRPr lang="en-KR" sz="1800" b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78EE17-FEA7-166D-E0E5-89C4A998A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952058"/>
              </p:ext>
            </p:extLst>
          </p:nvPr>
        </p:nvGraphicFramePr>
        <p:xfrm>
          <a:off x="2627784" y="4005064"/>
          <a:ext cx="6120680" cy="17902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30170">
                  <a:extLst>
                    <a:ext uri="{9D8B030D-6E8A-4147-A177-3AD203B41FA5}">
                      <a16:colId xmlns:a16="http://schemas.microsoft.com/office/drawing/2014/main" val="741540229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1196309449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289749163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4003047597"/>
                    </a:ext>
                  </a:extLst>
                </a:gridCol>
              </a:tblGrid>
              <a:tr h="646930">
                <a:tc>
                  <a:txBody>
                    <a:bodyPr/>
                    <a:lstStyle/>
                    <a:p>
                      <a:endParaRPr lang="en-K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GPU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Accounting files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Public files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5930031"/>
                  </a:ext>
                </a:extLst>
              </a:tr>
              <a:tr h="571649"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read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K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read</a:t>
                      </a:r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, write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3639038"/>
                  </a:ext>
                </a:extLst>
              </a:tr>
              <a:tr h="571649"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write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KR" dirty="0">
                          <a:solidFill>
                            <a:schemeClr val="tx1"/>
                          </a:solidFill>
                        </a:rPr>
                        <a:t>read,write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40194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253EE1-AB79-4548-A0BA-505B3EF27B9C}"/>
              </a:ext>
            </a:extLst>
          </p:cNvPr>
          <p:cNvSpPr txBox="1"/>
          <p:nvPr/>
        </p:nvSpPr>
        <p:spPr>
          <a:xfrm>
            <a:off x="4211960" y="3543399"/>
            <a:ext cx="3401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Access control matrix</a:t>
            </a:r>
          </a:p>
        </p:txBody>
      </p:sp>
    </p:spTree>
    <p:extLst>
      <p:ext uri="{BB962C8B-B14F-4D97-AF65-F5344CB8AC3E}">
        <p14:creationId xmlns:p14="http://schemas.microsoft.com/office/powerpoint/2010/main" val="91411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76B4-9344-94D2-7236-BE4C081B4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Limitations of OS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27560-6171-6C18-F607-FB7A3818E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0" dirty="0"/>
              <a:t>OS-provided protection is no longer sufficient in the modern age</a:t>
            </a:r>
          </a:p>
          <a:p>
            <a:r>
              <a:rPr lang="en-KR" b="0" dirty="0"/>
              <a:t>Individual programs </a:t>
            </a:r>
            <a:r>
              <a:rPr lang="en-US" b="0" dirty="0"/>
              <a:t>are</a:t>
            </a:r>
            <a:r>
              <a:rPr lang="en-KR" b="0" dirty="0"/>
              <a:t> increasingly complicated </a:t>
            </a:r>
            <a:r>
              <a:rPr lang="en-KR" b="0" dirty="0">
                <a:sym typeface="Wingdings" pitchFamily="2" charset="2"/>
              </a:rPr>
              <a:t></a:t>
            </a:r>
            <a:r>
              <a:rPr lang="en-KR" b="0" dirty="0"/>
              <a:t> need for </a:t>
            </a:r>
            <a:r>
              <a:rPr lang="en-KR" dirty="0"/>
              <a:t>fine-grained isolation</a:t>
            </a:r>
          </a:p>
          <a:p>
            <a:r>
              <a:rPr lang="en-KR" b="0" dirty="0"/>
              <a:t>Trust crisis in the cloud </a:t>
            </a:r>
            <a:r>
              <a:rPr lang="en-KR" b="0" dirty="0">
                <a:sym typeface="Wingdings" pitchFamily="2" charset="2"/>
              </a:rPr>
              <a:t> need to </a:t>
            </a:r>
            <a:r>
              <a:rPr lang="en-KR" b="0" dirty="0"/>
              <a:t> </a:t>
            </a:r>
            <a:r>
              <a:rPr lang="en-KR" dirty="0"/>
              <a:t>rethink system trust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79E2B-1201-C43D-294E-67368E27A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7449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B70D-DF3C-61C3-81CB-D6EA1288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Modern hardware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44094-2167-C04B-4E19-AD9A72B5D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KR" b="0" dirty="0"/>
              <a:t>Modern hardware introduces features addressing limitations of legacy OS protection</a:t>
            </a:r>
          </a:p>
          <a:p>
            <a:r>
              <a:rPr lang="en-KR" b="0" dirty="0">
                <a:solidFill>
                  <a:schemeClr val="accent6"/>
                </a:solidFill>
              </a:rPr>
              <a:t>Need for finer-grained Isolation </a:t>
            </a:r>
            <a:r>
              <a:rPr lang="en-KR" dirty="0"/>
              <a:t>→</a:t>
            </a:r>
            <a:r>
              <a:rPr lang="en-KR" b="0" dirty="0">
                <a:solidFill>
                  <a:schemeClr val="accent6"/>
                </a:solidFill>
              </a:rPr>
              <a:t> </a:t>
            </a:r>
            <a:r>
              <a:rPr lang="en-KR" dirty="0"/>
              <a:t>In-process memory isolation primitives (e.g., Intel PKU, ARM MTE)</a:t>
            </a:r>
          </a:p>
          <a:p>
            <a:r>
              <a:rPr lang="en-KR" b="0" dirty="0">
                <a:solidFill>
                  <a:schemeClr val="accent6"/>
                </a:solidFill>
              </a:rPr>
              <a:t>Trusted execution </a:t>
            </a:r>
            <a:r>
              <a:rPr lang="en-KR" dirty="0"/>
              <a:t>→ Hardware Trusted Execution Environ</a:t>
            </a:r>
            <a:r>
              <a:rPr lang="en-US" dirty="0"/>
              <a:t>m</a:t>
            </a:r>
            <a:r>
              <a:rPr lang="en-KR" dirty="0"/>
              <a:t>ents (e.g., Intel SGX, AMD SEV)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C0EF3-0E2B-6703-A67B-6A5FE7B0C5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8839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85EA-9D8B-AD47-389E-1901492B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59EE9-BF3E-12A8-D23A-98B580BA2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7</a:t>
            </a:fld>
            <a:endParaRPr lang="en-US" altLang="ja-JP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E82D7C7-F821-522C-4A4A-225F47A8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9144000" cy="503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C3720F1-B243-643F-FCDD-EE2C90972668}"/>
              </a:ext>
            </a:extLst>
          </p:cNvPr>
          <p:cNvSpPr txBox="1">
            <a:spLocks noChangeArrowheads="1"/>
          </p:cNvSpPr>
          <p:nvPr/>
        </p:nvSpPr>
        <p:spPr>
          <a:xfrm>
            <a:off x="491015" y="2781383"/>
            <a:ext cx="7939284" cy="1295234"/>
          </a:xfrm>
          <a:prstGeom prst="rect">
            <a:avLst/>
          </a:prstGeom>
          <a:solidFill>
            <a:schemeClr val="bg1"/>
          </a:solidFill>
        </p:spPr>
        <p:txBody>
          <a:bodyPr lIns="93600" rIns="9360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ja-JP" sz="3600" b="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How do we retrofit modern hardware for security </a:t>
            </a:r>
            <a:r>
              <a:rPr lang="en-US" altLang="ja-JP" sz="360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safely</a:t>
            </a:r>
            <a:r>
              <a:rPr lang="en-US" altLang="ja-JP" sz="3600" b="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and </a:t>
            </a:r>
            <a:r>
              <a:rPr lang="en-US" altLang="ja-JP" sz="360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efficiently</a:t>
            </a:r>
            <a:r>
              <a:rPr lang="en-US" altLang="ja-JP" sz="3600" b="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?</a:t>
            </a:r>
            <a:endParaRPr lang="ja-JP" altLang="en-US" sz="3600" b="0" kern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770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B781-45A2-40B5-4F09-453F6C68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544E-B692-E5E2-DAFF-8DF809B8D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What can go wrong?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7FDD-0569-0BD5-29E9-1C865E7BF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KR" b="0" dirty="0"/>
              <a:t>Ad hoc security retrofitting can offset any security &amp; performance benefits provided by hardware</a:t>
            </a:r>
          </a:p>
          <a:p>
            <a:r>
              <a:rPr lang="en-KR" b="0" dirty="0"/>
              <a:t>Kernel confused deputy attacks on PKU-based systems</a:t>
            </a:r>
            <a:r>
              <a:rPr lang="en-KR" b="0" baseline="30000" dirty="0"/>
              <a:t>1</a:t>
            </a:r>
          </a:p>
          <a:p>
            <a:r>
              <a:rPr lang="en-KR" b="0" dirty="0"/>
              <a:t>Interface and side-channel attacks on trusted execution environments</a:t>
            </a:r>
            <a:r>
              <a:rPr lang="en-KR" b="0" baseline="30000" dirty="0"/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97E2F-F9D9-CA63-2265-22B62A7417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0318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3BD08-5022-EC65-9AE2-4868FFA6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Problem: Protection Inconherencies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4443-9652-981E-5EF2-9B91C5729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96975"/>
            <a:ext cx="7772400" cy="1191617"/>
          </a:xfrm>
        </p:spPr>
        <p:txBody>
          <a:bodyPr/>
          <a:lstStyle/>
          <a:p>
            <a:r>
              <a:rPr lang="en-KR" dirty="0"/>
              <a:t>Gaps</a:t>
            </a:r>
            <a:r>
              <a:rPr lang="en-KR" b="0" dirty="0"/>
              <a:t> in hardware-defined and OS protections reveal attack vectors.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435A9-938D-ECCD-B998-9F659BDAAF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9</a:t>
            </a:fld>
            <a:endParaRPr lang="en-US" altLang="ja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F3012-036C-8D8A-70DD-A63709B9E6B2}"/>
              </a:ext>
            </a:extLst>
          </p:cNvPr>
          <p:cNvSpPr/>
          <p:nvPr/>
        </p:nvSpPr>
        <p:spPr bwMode="auto">
          <a:xfrm>
            <a:off x="2123728" y="4495756"/>
            <a:ext cx="5082012" cy="1777525"/>
          </a:xfrm>
          <a:prstGeom prst="rect">
            <a:avLst/>
          </a:prstGeom>
          <a:noFill/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99D6C-C57D-C0BF-8AA5-8CAFC4E7379C}"/>
              </a:ext>
            </a:extLst>
          </p:cNvPr>
          <p:cNvSpPr/>
          <p:nvPr/>
        </p:nvSpPr>
        <p:spPr bwMode="auto">
          <a:xfrm>
            <a:off x="2298476" y="4702944"/>
            <a:ext cx="4793803" cy="1450467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CF105-C0D2-F673-027C-D40C544130DA}"/>
              </a:ext>
            </a:extLst>
          </p:cNvPr>
          <p:cNvSpPr/>
          <p:nvPr/>
        </p:nvSpPr>
        <p:spPr bwMode="auto">
          <a:xfrm>
            <a:off x="2442493" y="4861326"/>
            <a:ext cx="1234855" cy="1203293"/>
          </a:xfrm>
          <a:prstGeom prst="rect">
            <a:avLst/>
          </a:prstGeom>
          <a:noFill/>
          <a:ln w="50800" cap="flat" cmpd="sng" algn="ctr">
            <a:solidFill>
              <a:schemeClr val="accent5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61FD0-7E0B-3C1C-AB63-DBFBCE825F60}"/>
              </a:ext>
            </a:extLst>
          </p:cNvPr>
          <p:cNvSpPr txBox="1"/>
          <p:nvPr/>
        </p:nvSpPr>
        <p:spPr>
          <a:xfrm>
            <a:off x="5607953" y="3065300"/>
            <a:ext cx="2234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dirty="0"/>
              <a:t>OS Protection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B14DC7-D4CC-2DEC-47D0-320E1610C1E7}"/>
              </a:ext>
            </a:extLst>
          </p:cNvPr>
          <p:cNvSpPr txBox="1"/>
          <p:nvPr/>
        </p:nvSpPr>
        <p:spPr>
          <a:xfrm>
            <a:off x="1213155" y="2593072"/>
            <a:ext cx="1792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dirty="0"/>
              <a:t>System Protection </a:t>
            </a:r>
          </a:p>
          <a:p>
            <a:pPr algn="ctr"/>
            <a:r>
              <a:rPr lang="en-KR" dirty="0"/>
              <a:t>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6753D-05CD-2546-C936-0C7CAECA77DA}"/>
              </a:ext>
            </a:extLst>
          </p:cNvPr>
          <p:cNvSpPr txBox="1"/>
          <p:nvPr/>
        </p:nvSpPr>
        <p:spPr>
          <a:xfrm>
            <a:off x="3283272" y="3061538"/>
            <a:ext cx="19722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KR" dirty="0"/>
              <a:t>HW-defined </a:t>
            </a:r>
          </a:p>
          <a:p>
            <a:pPr algn="ctr"/>
            <a:r>
              <a:rPr lang="en-KR" dirty="0"/>
              <a:t>Protection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0D7EFB-0411-2A13-DFDE-1A6751477AD9}"/>
              </a:ext>
            </a:extLst>
          </p:cNvPr>
          <p:cNvCxnSpPr>
            <a:cxnSpLocks/>
          </p:cNvCxnSpPr>
          <p:nvPr/>
        </p:nvCxnSpPr>
        <p:spPr bwMode="auto">
          <a:xfrm flipV="1">
            <a:off x="3283272" y="3876066"/>
            <a:ext cx="471136" cy="1012795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DD1629-0D38-585E-A953-A09E6B39D98E}"/>
              </a:ext>
            </a:extLst>
          </p:cNvPr>
          <p:cNvCxnSpPr>
            <a:cxnSpLocks/>
            <a:endCxn id="9" idx="2"/>
          </p:cNvCxnSpPr>
          <p:nvPr/>
        </p:nvCxnSpPr>
        <p:spPr bwMode="auto">
          <a:xfrm flipH="1" flipV="1">
            <a:off x="2109601" y="3793401"/>
            <a:ext cx="332892" cy="702355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1073CAD-2F15-9781-8BBD-F4914ADA6DC3}"/>
              </a:ext>
            </a:extLst>
          </p:cNvPr>
          <p:cNvCxnSpPr>
            <a:cxnSpLocks/>
            <a:endCxn id="8" idx="2"/>
          </p:cNvCxnSpPr>
          <p:nvPr/>
        </p:nvCxnSpPr>
        <p:spPr bwMode="auto">
          <a:xfrm flipV="1">
            <a:off x="6503870" y="3526965"/>
            <a:ext cx="221537" cy="1175979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E5C29E-7646-9C7B-9C77-FAD17168C257}"/>
              </a:ext>
            </a:extLst>
          </p:cNvPr>
          <p:cNvCxnSpPr>
            <a:cxnSpLocks/>
          </p:cNvCxnSpPr>
          <p:nvPr/>
        </p:nvCxnSpPr>
        <p:spPr bwMode="auto">
          <a:xfrm flipH="1">
            <a:off x="3852096" y="5489808"/>
            <a:ext cx="2988786" cy="0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8AED25C-4377-EF48-C33B-826EF3050934}"/>
              </a:ext>
            </a:extLst>
          </p:cNvPr>
          <p:cNvSpPr txBox="1"/>
          <p:nvPr/>
        </p:nvSpPr>
        <p:spPr>
          <a:xfrm>
            <a:off x="4265757" y="4974233"/>
            <a:ext cx="2238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b="0" dirty="0">
                <a:solidFill>
                  <a:srgbClr val="FF0000"/>
                </a:solidFill>
              </a:rPr>
              <a:t>Protection Gap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1F35BF1B-BE14-C34A-A4C0-3AA7D72E6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843" y="5598278"/>
            <a:ext cx="518859" cy="51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94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DAD5-14B0-1AD3-4633-A12B7ECB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This 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0CF65-DD48-8216-EF3B-0D17E8B26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10</a:t>
            </a:fld>
            <a:endParaRPr lang="en-US" altLang="ja-JP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6AC5F2-0CBC-37C8-E28F-9336913B5B21}"/>
              </a:ext>
            </a:extLst>
          </p:cNvPr>
          <p:cNvSpPr/>
          <p:nvPr/>
        </p:nvSpPr>
        <p:spPr bwMode="auto">
          <a:xfrm>
            <a:off x="818888" y="1618008"/>
            <a:ext cx="3600400" cy="1764196"/>
          </a:xfrm>
          <a:prstGeom prst="roundRect">
            <a:avLst/>
          </a:prstGeom>
          <a:ln w="635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Retrofiting </a:t>
            </a:r>
            <a:r>
              <a:rPr lang="en-US" dirty="0">
                <a:solidFill>
                  <a:schemeClr val="tx2"/>
                </a:solidFill>
                <a:latin typeface="Arial" pitchFamily="34" charset="0"/>
              </a:rPr>
              <a:t>h</a:t>
            </a: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ardware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isolation into OS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protection [CCS ‘23]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EFFE32-25CC-0C4A-4695-4E9A6CBBD58C}"/>
              </a:ext>
            </a:extLst>
          </p:cNvPr>
          <p:cNvSpPr/>
          <p:nvPr/>
        </p:nvSpPr>
        <p:spPr bwMode="auto">
          <a:xfrm>
            <a:off x="530856" y="1412776"/>
            <a:ext cx="2880320" cy="387474"/>
          </a:xfrm>
          <a:prstGeom prst="roundRect">
            <a:avLst/>
          </a:prstGeom>
          <a:solidFill>
            <a:schemeClr val="accent5">
              <a:lumMod val="90000"/>
            </a:schemeClr>
          </a:solidFill>
          <a:ln w="25400">
            <a:prstDash val="sysDot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Distinguished Paper </a:t>
            </a:r>
            <a:r>
              <a:rPr lang="en-KR" sz="1600" b="0" dirty="0">
                <a:solidFill>
                  <a:schemeClr val="tx2"/>
                </a:solidFill>
                <a:latin typeface="Arial" pitchFamily="34" charset="0"/>
              </a:rPr>
              <a:t>A</a:t>
            </a:r>
            <a:r>
              <a:rPr kumimoji="0" lang="en-KR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ward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05F417-59DA-872E-EF88-6681FE3082B8}"/>
              </a:ext>
            </a:extLst>
          </p:cNvPr>
          <p:cNvSpPr/>
          <p:nvPr/>
        </p:nvSpPr>
        <p:spPr bwMode="auto">
          <a:xfrm>
            <a:off x="4860032" y="1606513"/>
            <a:ext cx="3735720" cy="1764196"/>
          </a:xfrm>
          <a:prstGeom prst="roundRect">
            <a:avLst/>
          </a:prstGeom>
          <a:ln w="635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Retrofiting </a:t>
            </a: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OS</a:t>
            </a:r>
            <a:endParaRPr kumimoji="0" lang="en-KR" sz="240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for hardware protection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[Oakland ‘25]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FA764D-D07E-3E53-FE81-BF15A0D407C6}"/>
              </a:ext>
            </a:extLst>
          </p:cNvPr>
          <p:cNvSpPr/>
          <p:nvPr/>
        </p:nvSpPr>
        <p:spPr bwMode="auto">
          <a:xfrm>
            <a:off x="1081180" y="3603097"/>
            <a:ext cx="2983060" cy="1405406"/>
          </a:xfrm>
          <a:prstGeom prst="rect">
            <a:avLst/>
          </a:prstGeom>
          <a:noFill/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D93D57-E7BB-214D-D772-A7A48226C9E3}"/>
              </a:ext>
            </a:extLst>
          </p:cNvPr>
          <p:cNvSpPr/>
          <p:nvPr/>
        </p:nvSpPr>
        <p:spPr bwMode="auto">
          <a:xfrm>
            <a:off x="1255928" y="3810285"/>
            <a:ext cx="2610113" cy="1054201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B1BE29-BAFD-E33E-D226-93743C02816F}"/>
              </a:ext>
            </a:extLst>
          </p:cNvPr>
          <p:cNvSpPr/>
          <p:nvPr/>
        </p:nvSpPr>
        <p:spPr bwMode="auto">
          <a:xfrm>
            <a:off x="1399946" y="3968667"/>
            <a:ext cx="579766" cy="757961"/>
          </a:xfrm>
          <a:prstGeom prst="rect">
            <a:avLst/>
          </a:prstGeom>
          <a:noFill/>
          <a:ln w="50800" cap="flat" cmpd="sng" algn="ctr">
            <a:solidFill>
              <a:schemeClr val="accent5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F0261F-0F20-2AAE-011D-46FB264C7CB9}"/>
              </a:ext>
            </a:extLst>
          </p:cNvPr>
          <p:cNvSpPr/>
          <p:nvPr/>
        </p:nvSpPr>
        <p:spPr bwMode="auto">
          <a:xfrm>
            <a:off x="1399946" y="3968668"/>
            <a:ext cx="2304254" cy="757960"/>
          </a:xfrm>
          <a:prstGeom prst="rect">
            <a:avLst/>
          </a:prstGeom>
          <a:noFill/>
          <a:ln w="50800" cap="flat" cmpd="sng" algn="ctr">
            <a:solidFill>
              <a:schemeClr val="accent5">
                <a:lumMod val="2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2F80A9-5159-6F9F-755E-0284C5BBA0AD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 bwMode="auto">
          <a:xfrm>
            <a:off x="1979712" y="4347648"/>
            <a:ext cx="1724488" cy="0"/>
          </a:xfrm>
          <a:prstGeom prst="straightConnector1">
            <a:avLst/>
          </a:prstGeom>
          <a:ln w="57150">
            <a:solidFill>
              <a:schemeClr val="accent5">
                <a:lumMod val="25000"/>
              </a:schemeClr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B1042-693B-C45A-BFE5-931DCE037504}"/>
              </a:ext>
            </a:extLst>
          </p:cNvPr>
          <p:cNvSpPr/>
          <p:nvPr/>
        </p:nvSpPr>
        <p:spPr bwMode="auto">
          <a:xfrm>
            <a:off x="5270198" y="3603097"/>
            <a:ext cx="2983060" cy="1405406"/>
          </a:xfrm>
          <a:prstGeom prst="rect">
            <a:avLst/>
          </a:prstGeom>
          <a:noFill/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051B59-78AA-B0CB-9B8D-A42698D70F09}"/>
              </a:ext>
            </a:extLst>
          </p:cNvPr>
          <p:cNvSpPr/>
          <p:nvPr/>
        </p:nvSpPr>
        <p:spPr bwMode="auto">
          <a:xfrm>
            <a:off x="5580113" y="3968667"/>
            <a:ext cx="2307960" cy="757961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A694F8-0D4E-950A-592C-F0D448EFC53C}"/>
              </a:ext>
            </a:extLst>
          </p:cNvPr>
          <p:cNvSpPr/>
          <p:nvPr/>
        </p:nvSpPr>
        <p:spPr bwMode="auto">
          <a:xfrm>
            <a:off x="5444943" y="3787296"/>
            <a:ext cx="2617877" cy="1087452"/>
          </a:xfrm>
          <a:prstGeom prst="rect">
            <a:avLst/>
          </a:prstGeom>
          <a:noFill/>
          <a:ln w="50800" cap="flat" cmpd="sng" algn="ctr">
            <a:solidFill>
              <a:schemeClr val="accent5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3DBE98-6F4F-D7E3-1D1A-8B996CC010CC}"/>
              </a:ext>
            </a:extLst>
          </p:cNvPr>
          <p:cNvSpPr/>
          <p:nvPr/>
        </p:nvSpPr>
        <p:spPr bwMode="auto">
          <a:xfrm>
            <a:off x="5580112" y="3968667"/>
            <a:ext cx="576064" cy="757961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BF36157-18BD-B26D-02A4-D6003E50311C}"/>
              </a:ext>
            </a:extLst>
          </p:cNvPr>
          <p:cNvCxnSpPr>
            <a:cxnSpLocks/>
            <a:stCxn id="25" idx="3"/>
            <a:endCxn id="21" idx="3"/>
          </p:cNvCxnSpPr>
          <p:nvPr/>
        </p:nvCxnSpPr>
        <p:spPr bwMode="auto">
          <a:xfrm>
            <a:off x="6156176" y="4347648"/>
            <a:ext cx="1731897" cy="0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3DC93254-7FEA-256C-6E37-F3831B51BE45}"/>
              </a:ext>
            </a:extLst>
          </p:cNvPr>
          <p:cNvSpPr/>
          <p:nvPr/>
        </p:nvSpPr>
        <p:spPr bwMode="auto">
          <a:xfrm>
            <a:off x="2700086" y="5322110"/>
            <a:ext cx="144018" cy="173901"/>
          </a:xfrm>
          <a:prstGeom prst="rect">
            <a:avLst/>
          </a:prstGeom>
          <a:noFill/>
          <a:ln w="50800" cap="flat" cmpd="sng" algn="ctr">
            <a:solidFill>
              <a:schemeClr val="accent5">
                <a:lumMod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26C649-1585-667C-13D3-230FE43711E8}"/>
              </a:ext>
            </a:extLst>
          </p:cNvPr>
          <p:cNvSpPr/>
          <p:nvPr/>
        </p:nvSpPr>
        <p:spPr bwMode="auto">
          <a:xfrm>
            <a:off x="2700086" y="5704684"/>
            <a:ext cx="144018" cy="173901"/>
          </a:xfrm>
          <a:prstGeom prst="rect">
            <a:avLst/>
          </a:prstGeom>
          <a:noFill/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39B0D1-7E85-F7EB-0818-862062835132}"/>
              </a:ext>
            </a:extLst>
          </p:cNvPr>
          <p:cNvSpPr/>
          <p:nvPr/>
        </p:nvSpPr>
        <p:spPr bwMode="auto">
          <a:xfrm>
            <a:off x="2687241" y="6087258"/>
            <a:ext cx="144018" cy="173901"/>
          </a:xfrm>
          <a:prstGeom prst="rect">
            <a:avLst/>
          </a:prstGeom>
          <a:noFill/>
          <a:ln w="508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792EAB-7D55-E9DC-E3D9-7744C336E19C}"/>
              </a:ext>
            </a:extLst>
          </p:cNvPr>
          <p:cNvSpPr txBox="1"/>
          <p:nvPr/>
        </p:nvSpPr>
        <p:spPr>
          <a:xfrm>
            <a:off x="3010653" y="5981218"/>
            <a:ext cx="335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/>
              <a:t>System protection goals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CEC3DD-3C14-E641-2B13-617B202B43AD}"/>
              </a:ext>
            </a:extLst>
          </p:cNvPr>
          <p:cNvSpPr txBox="1"/>
          <p:nvPr/>
        </p:nvSpPr>
        <p:spPr>
          <a:xfrm>
            <a:off x="2997808" y="5592603"/>
            <a:ext cx="3581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/>
              <a:t>OS protection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705670-04A5-B116-3E94-2A391E770E03}"/>
              </a:ext>
            </a:extLst>
          </p:cNvPr>
          <p:cNvSpPr txBox="1"/>
          <p:nvPr/>
        </p:nvSpPr>
        <p:spPr>
          <a:xfrm>
            <a:off x="3010653" y="5209192"/>
            <a:ext cx="3865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/>
              <a:t>Hardware-defined protection</a:t>
            </a:r>
          </a:p>
        </p:txBody>
      </p:sp>
    </p:spTree>
    <p:extLst>
      <p:ext uri="{BB962C8B-B14F-4D97-AF65-F5344CB8AC3E}">
        <p14:creationId xmlns:p14="http://schemas.microsoft.com/office/powerpoint/2010/main" val="107221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03FD-4286-7854-C185-0BBDC786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38A6-4499-A4E4-14C6-FCB6CF1E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Modern hardware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8404E-5ED0-21DA-0EE9-26191715A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KR" b="0" dirty="0"/>
              <a:t>Modern hardware introduces features addressing limitations of legacy OS protection</a:t>
            </a:r>
          </a:p>
          <a:p>
            <a:r>
              <a:rPr lang="en-KR" b="0" dirty="0">
                <a:solidFill>
                  <a:schemeClr val="accent6"/>
                </a:solidFill>
              </a:rPr>
              <a:t>Need for finer-grained Isolation </a:t>
            </a:r>
            <a:r>
              <a:rPr lang="en-KR" dirty="0"/>
              <a:t>→</a:t>
            </a:r>
            <a:r>
              <a:rPr lang="en-KR" b="0" dirty="0">
                <a:solidFill>
                  <a:schemeClr val="accent6"/>
                </a:solidFill>
              </a:rPr>
              <a:t> </a:t>
            </a:r>
            <a:r>
              <a:rPr lang="en-KR" dirty="0"/>
              <a:t>In-process memory isolation primitives (e.g., Intel PKU, ARM MTE)</a:t>
            </a:r>
          </a:p>
          <a:p>
            <a:r>
              <a:rPr lang="en-KR" b="0" dirty="0">
                <a:solidFill>
                  <a:schemeClr val="accent6"/>
                </a:solidFill>
              </a:rPr>
              <a:t>Trusted execution </a:t>
            </a:r>
            <a:r>
              <a:rPr lang="en-KR" dirty="0"/>
              <a:t>→ Hardware Trusted Execution Environ</a:t>
            </a:r>
            <a:r>
              <a:rPr lang="en-US" dirty="0"/>
              <a:t>m</a:t>
            </a:r>
            <a:r>
              <a:rPr lang="en-KR" dirty="0"/>
              <a:t>ents (e.g., Intel SGX, AMD SEV)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87377-19DD-9C82-9497-8A6F33011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58067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9E02D-FFB1-2907-A661-3E370BFF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2276-27CC-8D8F-9204-26FE1D2A0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12</a:t>
            </a:fld>
            <a:endParaRPr lang="en-US" altLang="ja-JP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15CC7EE-705C-5281-4C3A-D58D1E53C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9144000" cy="503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F796AE4-15E2-B789-2B13-81282ED71B76}"/>
              </a:ext>
            </a:extLst>
          </p:cNvPr>
          <p:cNvSpPr txBox="1">
            <a:spLocks noChangeArrowheads="1"/>
          </p:cNvSpPr>
          <p:nvPr/>
        </p:nvSpPr>
        <p:spPr>
          <a:xfrm>
            <a:off x="602358" y="2060848"/>
            <a:ext cx="7939284" cy="1295234"/>
          </a:xfrm>
          <a:prstGeom prst="rect">
            <a:avLst/>
          </a:prstGeom>
        </p:spPr>
        <p:txBody>
          <a:bodyPr lIns="93600" rIns="9360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ja-JP" sz="440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Background</a:t>
            </a:r>
            <a:endParaRPr lang="ja-JP" altLang="en-US" sz="3600" kern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7461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DE25B-4C73-7DBA-E893-99B5FF7D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5A3A-C65D-B547-7635-0614D9DD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Limitations of OS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A8584-98FD-E61E-3643-2D40CAE1D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0" dirty="0"/>
              <a:t>OS-provided protection is no longer sufficient in the modern age</a:t>
            </a:r>
          </a:p>
          <a:p>
            <a:r>
              <a:rPr lang="en-KR" b="0" dirty="0">
                <a:solidFill>
                  <a:schemeClr val="accent2"/>
                </a:solidFill>
              </a:rPr>
              <a:t>Individual programs </a:t>
            </a:r>
            <a:r>
              <a:rPr lang="en-US" b="0" dirty="0">
                <a:solidFill>
                  <a:schemeClr val="accent2"/>
                </a:solidFill>
              </a:rPr>
              <a:t>are</a:t>
            </a:r>
            <a:r>
              <a:rPr lang="en-KR" b="0" dirty="0">
                <a:solidFill>
                  <a:schemeClr val="accent2"/>
                </a:solidFill>
              </a:rPr>
              <a:t> increasingly complicated and authority-consolidating -&gt; need for </a:t>
            </a:r>
            <a:r>
              <a:rPr lang="en-KR" dirty="0">
                <a:solidFill>
                  <a:schemeClr val="accent2"/>
                </a:solidFill>
              </a:rPr>
              <a:t>fine-grained security</a:t>
            </a:r>
          </a:p>
          <a:p>
            <a:r>
              <a:rPr lang="en-KR" b="0" dirty="0">
                <a:solidFill>
                  <a:schemeClr val="bg2"/>
                </a:solidFill>
              </a:rPr>
              <a:t>Modern use cases (e.g., trusted execution) </a:t>
            </a:r>
            <a:r>
              <a:rPr lang="en-KR" dirty="0">
                <a:solidFill>
                  <a:schemeClr val="bg2"/>
                </a:solidFill>
              </a:rPr>
              <a:t>rethink system trust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4A01E-B8F7-EEE9-B2E8-10249CBD1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9893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7AB7-48A2-5041-EF64-1844A32C2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Software are increasingly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BD12B-084F-684D-77D2-18EE79C36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0" dirty="0"/>
              <a:t>Modern web browsers contain over 30 million</a:t>
            </a:r>
            <a:r>
              <a:rPr lang="en-US" b="0" dirty="0"/>
              <a:t> lines</a:t>
            </a:r>
            <a:r>
              <a:rPr lang="en-KR" b="0" dirty="0"/>
              <a:t> of code*</a:t>
            </a:r>
          </a:p>
          <a:p>
            <a:r>
              <a:rPr lang="en-KR" b="0" dirty="0"/>
              <a:t>Third-party libraries and packages are common practice, e.g., NodeJS, OpenSSL</a:t>
            </a:r>
          </a:p>
          <a:p>
            <a:r>
              <a:rPr lang="en-US" b="0" dirty="0">
                <a:solidFill>
                  <a:srgbClr val="FF0000"/>
                </a:solidFill>
              </a:rPr>
              <a:t>A s</a:t>
            </a:r>
            <a:r>
              <a:rPr lang="en-KR" b="0" dirty="0">
                <a:solidFill>
                  <a:srgbClr val="FF0000"/>
                </a:solidFill>
              </a:rPr>
              <a:t>ingle vulnerability </a:t>
            </a:r>
            <a:r>
              <a:rPr lang="en-KR" dirty="0">
                <a:solidFill>
                  <a:srgbClr val="FF0000"/>
                </a:solidFill>
              </a:rPr>
              <a:t>anywhere</a:t>
            </a:r>
            <a:r>
              <a:rPr lang="en-KR" b="0" dirty="0">
                <a:solidFill>
                  <a:srgbClr val="FF0000"/>
                </a:solidFill>
              </a:rPr>
              <a:t> conceeds control to attackers or expose systems secrets</a:t>
            </a:r>
          </a:p>
          <a:p>
            <a:endParaRPr lang="en-KR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7AF87-FD9D-D214-DD8F-73C1D6183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14</a:t>
            </a:fld>
            <a:endParaRPr lang="en-US" altLang="ja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BC54D-6F14-A307-E3A5-FD2686A7D83E}"/>
              </a:ext>
            </a:extLst>
          </p:cNvPr>
          <p:cNvSpPr txBox="1"/>
          <p:nvPr/>
        </p:nvSpPr>
        <p:spPr>
          <a:xfrm>
            <a:off x="467544" y="5881832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800" b="0" dirty="0"/>
              <a:t>*</a:t>
            </a:r>
            <a:r>
              <a:rPr lang="en-US" sz="1800" b="0" dirty="0"/>
              <a:t>https://</a:t>
            </a:r>
            <a:r>
              <a:rPr lang="en-US" sz="1800" b="0" dirty="0" err="1"/>
              <a:t>openhub.net</a:t>
            </a:r>
            <a:r>
              <a:rPr lang="en-US" sz="1800" b="0" dirty="0"/>
              <a:t>/p/chrome/analyses/latest/</a:t>
            </a:r>
            <a:r>
              <a:rPr lang="en-US" sz="1800" b="0" dirty="0" err="1"/>
              <a:t>languages_summary</a:t>
            </a:r>
            <a:r>
              <a:rPr lang="en-US" sz="1800" b="0" dirty="0"/>
              <a:t> and</a:t>
            </a:r>
          </a:p>
          <a:p>
            <a:r>
              <a:rPr lang="en-US" sz="1800" b="0" dirty="0"/>
              <a:t>https://</a:t>
            </a:r>
            <a:r>
              <a:rPr lang="en-US" sz="1800" b="0" dirty="0" err="1"/>
              <a:t>openhub.net</a:t>
            </a:r>
            <a:r>
              <a:rPr lang="en-US" sz="1800" b="0" dirty="0"/>
              <a:t>/p/</a:t>
            </a:r>
            <a:r>
              <a:rPr lang="en-US" sz="1800" b="0" dirty="0" err="1"/>
              <a:t>firefox</a:t>
            </a:r>
            <a:r>
              <a:rPr lang="en-US" sz="1800" b="0" dirty="0"/>
              <a:t>/analyses/latest/</a:t>
            </a:r>
            <a:r>
              <a:rPr lang="en-US" sz="1800" b="0" dirty="0" err="1"/>
              <a:t>languages_summary</a:t>
            </a:r>
            <a:endParaRPr lang="en-KR" sz="1800" b="0" dirty="0"/>
          </a:p>
        </p:txBody>
      </p:sp>
    </p:spTree>
    <p:extLst>
      <p:ext uri="{BB962C8B-B14F-4D97-AF65-F5344CB8AC3E}">
        <p14:creationId xmlns:p14="http://schemas.microsoft.com/office/powerpoint/2010/main" val="407383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A9BD-82E1-D777-9E5F-9CBDA341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Consequences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35193-28EE-5278-C659-728B5636B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96975"/>
            <a:ext cx="7772400" cy="3528169"/>
          </a:xfrm>
        </p:spPr>
        <p:txBody>
          <a:bodyPr/>
          <a:lstStyle/>
          <a:p>
            <a:r>
              <a:rPr lang="en-KR" dirty="0"/>
              <a:t>Heartbleed vulnerability: </a:t>
            </a:r>
            <a:r>
              <a:rPr lang="en-KR" b="0" dirty="0"/>
              <a:t>A buffer-overread bug in OpenSSL affects hundreds of thou</a:t>
            </a:r>
            <a:r>
              <a:rPr lang="en-US" b="0" dirty="0"/>
              <a:t>sands</a:t>
            </a:r>
            <a:r>
              <a:rPr lang="en-KR" b="0" dirty="0"/>
              <a:t> of web servers</a:t>
            </a:r>
          </a:p>
          <a:p>
            <a:r>
              <a:rPr lang="en-KR" dirty="0"/>
              <a:t>Supply chain attacks </a:t>
            </a:r>
            <a:r>
              <a:rPr lang="en-KR" b="0" dirty="0"/>
              <a:t>on popular packages affect hundreds of thousand</a:t>
            </a:r>
            <a:r>
              <a:rPr lang="en-US" b="0" dirty="0"/>
              <a:t>s</a:t>
            </a:r>
            <a:r>
              <a:rPr lang="en-KR" b="0" dirty="0"/>
              <a:t> of users*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E55A6-90F6-08BE-5E4F-967C4DD26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15</a:t>
            </a:fld>
            <a:endParaRPr lang="en-US" altLang="ja-JP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DE32B5-E56D-8C7C-CDB0-07180EF71174}"/>
              </a:ext>
            </a:extLst>
          </p:cNvPr>
          <p:cNvSpPr txBox="1"/>
          <p:nvPr/>
        </p:nvSpPr>
        <p:spPr>
          <a:xfrm>
            <a:off x="467544" y="5458420"/>
            <a:ext cx="84969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/>
              <a:t>*N. Vasilakis et al., “Supply-Chain Vulnerability Elimination via Active Learning and Regeneration,” in Proceedings of the 2021 ACM SIGSAC Conference on Computer and Communications Security, ser. CCS ’21 </a:t>
            </a:r>
          </a:p>
        </p:txBody>
      </p:sp>
    </p:spTree>
    <p:extLst>
      <p:ext uri="{BB962C8B-B14F-4D97-AF65-F5344CB8AC3E}">
        <p14:creationId xmlns:p14="http://schemas.microsoft.com/office/powerpoint/2010/main" val="571197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8E832-AF35-2A75-47F6-F118EF0F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Need for fine-grained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CF428-C88C-A7AF-DA97-0BF2E693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737" y="1357312"/>
            <a:ext cx="7772400" cy="1751613"/>
          </a:xfrm>
        </p:spPr>
        <p:txBody>
          <a:bodyPr/>
          <a:lstStyle/>
          <a:p>
            <a:r>
              <a:rPr lang="en-KR" dirty="0"/>
              <a:t>Principle of least privilege</a:t>
            </a:r>
            <a:r>
              <a:rPr lang="en-KR" b="0" dirty="0"/>
              <a:t>: Software should be divided into least-privilege components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EF143-A184-7A71-989C-94FB407CF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16</a:t>
            </a:fld>
            <a:endParaRPr lang="en-US" altLang="ja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6AAD3-B270-17E7-3765-8DCE6A5092E9}"/>
              </a:ext>
            </a:extLst>
          </p:cNvPr>
          <p:cNvSpPr/>
          <p:nvPr/>
        </p:nvSpPr>
        <p:spPr bwMode="auto">
          <a:xfrm>
            <a:off x="351958" y="4516519"/>
            <a:ext cx="2160239" cy="83099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Monolithic software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06159-975A-B005-3A10-2A45498B724C}"/>
              </a:ext>
            </a:extLst>
          </p:cNvPr>
          <p:cNvSpPr/>
          <p:nvPr/>
        </p:nvSpPr>
        <p:spPr bwMode="auto">
          <a:xfrm>
            <a:off x="3235523" y="3937912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chemeClr val="tx2"/>
                </a:solidFill>
                <a:latin typeface="Arial" pitchFamily="34" charset="0"/>
              </a:rPr>
              <a:t>Component A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75E3B-9169-5780-CFD3-3F5DD614A084}"/>
              </a:ext>
            </a:extLst>
          </p:cNvPr>
          <p:cNvSpPr/>
          <p:nvPr/>
        </p:nvSpPr>
        <p:spPr bwMode="auto">
          <a:xfrm>
            <a:off x="3214935" y="4667768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chemeClr val="tx2"/>
                </a:solidFill>
                <a:latin typeface="Arial" pitchFamily="34" charset="0"/>
              </a:rPr>
              <a:t>Component B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49B18A-145D-E8C3-2A9B-956155DA9F75}"/>
              </a:ext>
            </a:extLst>
          </p:cNvPr>
          <p:cNvSpPr/>
          <p:nvPr/>
        </p:nvSpPr>
        <p:spPr bwMode="auto">
          <a:xfrm>
            <a:off x="3194347" y="5397624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chemeClr val="tx2"/>
                </a:solidFill>
                <a:latin typeface="Arial" pitchFamily="34" charset="0"/>
              </a:rPr>
              <a:t>Component C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7C1316-50CF-139E-FAF4-9C03FB8057B2}"/>
              </a:ext>
            </a:extLst>
          </p:cNvPr>
          <p:cNvSpPr/>
          <p:nvPr/>
        </p:nvSpPr>
        <p:spPr bwMode="auto">
          <a:xfrm>
            <a:off x="6191097" y="3654876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FE8D07-2BDD-35E4-383C-C09B3EB9A073}"/>
              </a:ext>
            </a:extLst>
          </p:cNvPr>
          <p:cNvSpPr/>
          <p:nvPr/>
        </p:nvSpPr>
        <p:spPr bwMode="auto">
          <a:xfrm>
            <a:off x="6191097" y="4168745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Resource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571DE7-07B1-20C5-1E6A-C9D5AF0364C4}"/>
              </a:ext>
            </a:extLst>
          </p:cNvPr>
          <p:cNvSpPr/>
          <p:nvPr/>
        </p:nvSpPr>
        <p:spPr bwMode="auto">
          <a:xfrm>
            <a:off x="6191097" y="4682614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Resource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D5B7A4-F6F1-C05E-EEC2-E71878D624B7}"/>
              </a:ext>
            </a:extLst>
          </p:cNvPr>
          <p:cNvSpPr/>
          <p:nvPr/>
        </p:nvSpPr>
        <p:spPr bwMode="auto">
          <a:xfrm>
            <a:off x="6191097" y="5196483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Resource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113A7C-B649-354E-7FFB-8A469881F5AA}"/>
              </a:ext>
            </a:extLst>
          </p:cNvPr>
          <p:cNvSpPr/>
          <p:nvPr/>
        </p:nvSpPr>
        <p:spPr bwMode="auto">
          <a:xfrm>
            <a:off x="6191097" y="5710350"/>
            <a:ext cx="2232248" cy="461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Resource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597377-6C0F-2D82-95B9-21E13E67AE06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 bwMode="auto">
          <a:xfrm flipV="1">
            <a:off x="5467771" y="3885709"/>
            <a:ext cx="723326" cy="283036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3D9740A-A4B1-B0A4-90C1-7DA30BEF7AE4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 bwMode="auto">
          <a:xfrm>
            <a:off x="5447183" y="4898601"/>
            <a:ext cx="743914" cy="528715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2F5BA2-1679-5BED-A71D-2CF29E296ACC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 bwMode="auto">
          <a:xfrm flipV="1">
            <a:off x="5426595" y="4913447"/>
            <a:ext cx="764502" cy="715010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4C55CC-BDD1-9307-5C57-3FCC1FB224DD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 bwMode="auto">
          <a:xfrm>
            <a:off x="5467771" y="4168745"/>
            <a:ext cx="723326" cy="1772438"/>
          </a:xfrm>
          <a:prstGeom prst="straightConnector1">
            <a:avLst/>
          </a:prstGeom>
          <a:ln w="3175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C48FF45-5F65-8938-559D-AEB66A867D60}"/>
              </a:ext>
            </a:extLst>
          </p:cNvPr>
          <p:cNvSpPr>
            <a:spLocks/>
          </p:cNvSpPr>
          <p:nvPr/>
        </p:nvSpPr>
        <p:spPr bwMode="auto">
          <a:xfrm>
            <a:off x="2610102" y="4387865"/>
            <a:ext cx="477213" cy="108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27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B4E4-F721-B0D5-A697-59489838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Limitation of process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EB6D-9B66-F84C-28C8-F39A19B87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93" y="1209188"/>
            <a:ext cx="7772400" cy="1498537"/>
          </a:xfrm>
        </p:spPr>
        <p:txBody>
          <a:bodyPr/>
          <a:lstStyle/>
          <a:p>
            <a:r>
              <a:rPr lang="en-KR" b="0" dirty="0"/>
              <a:t>O</a:t>
            </a:r>
            <a:r>
              <a:rPr lang="en-US" b="0" dirty="0"/>
              <a:t>S</a:t>
            </a:r>
            <a:r>
              <a:rPr lang="en-KR" b="0" dirty="0"/>
              <a:t>es enforce isolation at </a:t>
            </a:r>
            <a:r>
              <a:rPr lang="en-KR" dirty="0"/>
              <a:t>process</a:t>
            </a:r>
            <a:r>
              <a:rPr lang="en-KR" b="0" dirty="0"/>
              <a:t> granularity</a:t>
            </a:r>
          </a:p>
          <a:p>
            <a:r>
              <a:rPr lang="en-KR" b="0" dirty="0"/>
              <a:t>Process isolation is used in many modern systems (</a:t>
            </a:r>
          </a:p>
          <a:p>
            <a:endParaRPr lang="en-KR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D26B9-A5F4-6493-4183-9A11495224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17</a:t>
            </a:fld>
            <a:endParaRPr lang="en-US" altLang="ja-JP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CE57D0-8431-7323-BAAF-B61C646FC8DB}"/>
              </a:ext>
            </a:extLst>
          </p:cNvPr>
          <p:cNvGrpSpPr/>
          <p:nvPr/>
        </p:nvGrpSpPr>
        <p:grpSpPr>
          <a:xfrm>
            <a:off x="467544" y="3861048"/>
            <a:ext cx="3443919" cy="2227057"/>
            <a:chOff x="539594" y="3719921"/>
            <a:chExt cx="3443919" cy="22270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74F697A-ACB6-5036-0D9F-3D55EF18DD20}"/>
                </a:ext>
              </a:extLst>
            </p:cNvPr>
            <p:cNvSpPr/>
            <p:nvPr/>
          </p:nvSpPr>
          <p:spPr bwMode="auto">
            <a:xfrm>
              <a:off x="827584" y="5228731"/>
              <a:ext cx="2880320" cy="718247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dirty="0"/>
                <a:t>Operating System</a:t>
              </a:r>
              <a:endPara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145BB2-556C-37E8-CB79-E5CAE21B159A}"/>
                </a:ext>
              </a:extLst>
            </p:cNvPr>
            <p:cNvSpPr/>
            <p:nvPr/>
          </p:nvSpPr>
          <p:spPr bwMode="auto">
            <a:xfrm>
              <a:off x="539594" y="3719921"/>
              <a:ext cx="768099" cy="768099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sz="1800" dirty="0"/>
                <a:t>Proc. 1</a:t>
              </a:r>
              <a:endPara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DE261-1EBD-2F28-E865-CD73DDA25847}"/>
                </a:ext>
              </a:extLst>
            </p:cNvPr>
            <p:cNvSpPr/>
            <p:nvPr/>
          </p:nvSpPr>
          <p:spPr bwMode="auto">
            <a:xfrm>
              <a:off x="1877504" y="3719921"/>
              <a:ext cx="768099" cy="768099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sz="1800" dirty="0"/>
                <a:t>Proc. 2</a:t>
              </a:r>
              <a:endPara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D2DCDE-D1D1-75B4-3A5D-18B47A813FEF}"/>
                </a:ext>
              </a:extLst>
            </p:cNvPr>
            <p:cNvSpPr/>
            <p:nvPr/>
          </p:nvSpPr>
          <p:spPr bwMode="auto">
            <a:xfrm>
              <a:off x="3215414" y="3721572"/>
              <a:ext cx="768099" cy="768099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sz="1800" dirty="0"/>
                <a:t>Proc. 2</a:t>
              </a:r>
              <a:endPara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" name="Left-Right Arrow 18">
              <a:extLst>
                <a:ext uri="{FF2B5EF4-FFF2-40B4-BE49-F238E27FC236}">
                  <a16:creationId xmlns:a16="http://schemas.microsoft.com/office/drawing/2014/main" id="{A3524CE5-0A5C-C45B-7226-217005A696FE}"/>
                </a:ext>
              </a:extLst>
            </p:cNvPr>
            <p:cNvSpPr/>
            <p:nvPr/>
          </p:nvSpPr>
          <p:spPr bwMode="auto">
            <a:xfrm>
              <a:off x="1295636" y="4552331"/>
              <a:ext cx="1944216" cy="543691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KR" sz="18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itchFamily="34" charset="0"/>
                </a:rPr>
                <a:t>system calls</a:t>
              </a:r>
            </a:p>
          </p:txBody>
        </p:sp>
        <p:sp>
          <p:nvSpPr>
            <p:cNvPr id="21" name="Left-Right Arrow 20">
              <a:extLst>
                <a:ext uri="{FF2B5EF4-FFF2-40B4-BE49-F238E27FC236}">
                  <a16:creationId xmlns:a16="http://schemas.microsoft.com/office/drawing/2014/main" id="{C8974575-712D-5721-A924-79AEC0DA3F1F}"/>
                </a:ext>
              </a:extLst>
            </p:cNvPr>
            <p:cNvSpPr/>
            <p:nvPr/>
          </p:nvSpPr>
          <p:spPr bwMode="auto">
            <a:xfrm rot="16200000">
              <a:off x="1268264" y="3855035"/>
              <a:ext cx="648669" cy="479487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KR" sz="18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itchFamily="34" charset="0"/>
                </a:rPr>
                <a:t>IPC</a:t>
              </a:r>
            </a:p>
          </p:txBody>
        </p:sp>
        <p:sp>
          <p:nvSpPr>
            <p:cNvPr id="24" name="Left-Right Arrow 23">
              <a:extLst>
                <a:ext uri="{FF2B5EF4-FFF2-40B4-BE49-F238E27FC236}">
                  <a16:creationId xmlns:a16="http://schemas.microsoft.com/office/drawing/2014/main" id="{2C492ED1-0301-91B4-4620-BA7FC375958B}"/>
                </a:ext>
              </a:extLst>
            </p:cNvPr>
            <p:cNvSpPr/>
            <p:nvPr/>
          </p:nvSpPr>
          <p:spPr bwMode="auto">
            <a:xfrm rot="16200000">
              <a:off x="2606174" y="3855034"/>
              <a:ext cx="648669" cy="479487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KR" sz="18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itchFamily="34" charset="0"/>
                </a:rPr>
                <a:t>IPC</a:t>
              </a: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ED2A8CE-1E2F-A31D-164E-69A14223D730}"/>
              </a:ext>
            </a:extLst>
          </p:cNvPr>
          <p:cNvSpPr txBox="1">
            <a:spLocks/>
          </p:cNvSpPr>
          <p:nvPr/>
        </p:nvSpPr>
        <p:spPr bwMode="auto">
          <a:xfrm>
            <a:off x="4405219" y="3235533"/>
            <a:ext cx="4410784" cy="3180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0" kern="0" dirty="0">
                <a:solidFill>
                  <a:srgbClr val="FF0000"/>
                </a:solidFill>
              </a:rPr>
              <a:t>High engineering/development costs</a:t>
            </a:r>
          </a:p>
          <a:p>
            <a:r>
              <a:rPr lang="en-US" b="0" kern="0" dirty="0">
                <a:solidFill>
                  <a:srgbClr val="FF0000"/>
                </a:solidFill>
              </a:rPr>
              <a:t>High costs of Inter Process Communication (IPC)</a:t>
            </a:r>
          </a:p>
          <a:p>
            <a:endParaRPr lang="en-KR" b="0" kern="0" dirty="0">
              <a:solidFill>
                <a:srgbClr val="FF0000"/>
              </a:solidFill>
            </a:endParaRPr>
          </a:p>
          <a:p>
            <a:endParaRPr lang="en-KR" b="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37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3BEB-8FA2-910E-CBE8-E595C723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3C56-7F95-E31B-EA90-4EDC3FD4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Limitation of process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9D825-079C-81BA-7E32-85576A37C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93" y="1209188"/>
            <a:ext cx="7772400" cy="1498537"/>
          </a:xfrm>
        </p:spPr>
        <p:txBody>
          <a:bodyPr/>
          <a:lstStyle/>
          <a:p>
            <a:r>
              <a:rPr lang="en-KR" b="0" dirty="0"/>
              <a:t>O</a:t>
            </a:r>
            <a:r>
              <a:rPr lang="en-US" b="0" dirty="0"/>
              <a:t>S</a:t>
            </a:r>
            <a:r>
              <a:rPr lang="en-KR" b="0" dirty="0"/>
              <a:t>es enforce isolation at </a:t>
            </a:r>
            <a:r>
              <a:rPr lang="en-KR" dirty="0"/>
              <a:t>process</a:t>
            </a:r>
            <a:r>
              <a:rPr lang="en-KR" b="0" dirty="0"/>
              <a:t> granularity</a:t>
            </a:r>
          </a:p>
          <a:p>
            <a:r>
              <a:rPr lang="en-KR" b="0" dirty="0"/>
              <a:t>Process isolation is used in many modern systems (</a:t>
            </a:r>
          </a:p>
          <a:p>
            <a:endParaRPr lang="en-KR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50CA0-4313-D464-33FB-961117CE9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18</a:t>
            </a:fld>
            <a:endParaRPr lang="en-US" altLang="ja-JP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7BE4AC-BDD2-5A7A-519E-9787A1C871FD}"/>
              </a:ext>
            </a:extLst>
          </p:cNvPr>
          <p:cNvGrpSpPr/>
          <p:nvPr/>
        </p:nvGrpSpPr>
        <p:grpSpPr>
          <a:xfrm>
            <a:off x="467544" y="3861048"/>
            <a:ext cx="3443919" cy="2227057"/>
            <a:chOff x="539594" y="3719921"/>
            <a:chExt cx="3443919" cy="222705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784B1A-6E18-86D5-8C6D-6F80DA6DA3E7}"/>
                </a:ext>
              </a:extLst>
            </p:cNvPr>
            <p:cNvSpPr/>
            <p:nvPr/>
          </p:nvSpPr>
          <p:spPr bwMode="auto">
            <a:xfrm>
              <a:off x="827584" y="5228731"/>
              <a:ext cx="2880320" cy="718247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dirty="0"/>
                <a:t>Operating System</a:t>
              </a:r>
              <a:endParaRPr kumimoji="0" lang="en-KR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B71C1A-FD95-E253-C2E3-11440BC19218}"/>
                </a:ext>
              </a:extLst>
            </p:cNvPr>
            <p:cNvSpPr/>
            <p:nvPr/>
          </p:nvSpPr>
          <p:spPr bwMode="auto">
            <a:xfrm>
              <a:off x="539594" y="3719921"/>
              <a:ext cx="768099" cy="768099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sz="1800" dirty="0"/>
                <a:t>Proc. 1</a:t>
              </a:r>
              <a:endPara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60860CA-82F2-6EC6-DA90-EFE41F2CA545}"/>
                </a:ext>
              </a:extLst>
            </p:cNvPr>
            <p:cNvSpPr/>
            <p:nvPr/>
          </p:nvSpPr>
          <p:spPr bwMode="auto">
            <a:xfrm>
              <a:off x="1877504" y="3719921"/>
              <a:ext cx="768099" cy="768099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sz="1800" dirty="0"/>
                <a:t>Proc. 2</a:t>
              </a:r>
              <a:endPara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F8CCCAF-4FF1-91F5-25D9-DBC52B9C98CA}"/>
                </a:ext>
              </a:extLst>
            </p:cNvPr>
            <p:cNvSpPr/>
            <p:nvPr/>
          </p:nvSpPr>
          <p:spPr bwMode="auto">
            <a:xfrm>
              <a:off x="3215414" y="3721572"/>
              <a:ext cx="768099" cy="768099"/>
            </a:xfrm>
            <a:prstGeom prst="rect">
              <a:avLst/>
            </a:prstGeom>
            <a:noFill/>
            <a:ln w="254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KR" sz="1800" dirty="0"/>
                <a:t>Proc. 2</a:t>
              </a:r>
              <a:endPara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" name="Left-Right Arrow 18">
              <a:extLst>
                <a:ext uri="{FF2B5EF4-FFF2-40B4-BE49-F238E27FC236}">
                  <a16:creationId xmlns:a16="http://schemas.microsoft.com/office/drawing/2014/main" id="{7FA82B80-5A99-6EC4-EEFF-946B3611F691}"/>
                </a:ext>
              </a:extLst>
            </p:cNvPr>
            <p:cNvSpPr/>
            <p:nvPr/>
          </p:nvSpPr>
          <p:spPr bwMode="auto">
            <a:xfrm>
              <a:off x="1295636" y="4552331"/>
              <a:ext cx="1944216" cy="543691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KR" sz="18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itchFamily="34" charset="0"/>
                </a:rPr>
                <a:t>system calls</a:t>
              </a:r>
            </a:p>
          </p:txBody>
        </p:sp>
        <p:sp>
          <p:nvSpPr>
            <p:cNvPr id="21" name="Left-Right Arrow 20">
              <a:extLst>
                <a:ext uri="{FF2B5EF4-FFF2-40B4-BE49-F238E27FC236}">
                  <a16:creationId xmlns:a16="http://schemas.microsoft.com/office/drawing/2014/main" id="{6C0E1729-93ED-24A6-2BA9-A3C35094521F}"/>
                </a:ext>
              </a:extLst>
            </p:cNvPr>
            <p:cNvSpPr/>
            <p:nvPr/>
          </p:nvSpPr>
          <p:spPr bwMode="auto">
            <a:xfrm rot="16200000">
              <a:off x="1268264" y="3855035"/>
              <a:ext cx="648669" cy="479487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KR" sz="18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itchFamily="34" charset="0"/>
                </a:rPr>
                <a:t>IPC</a:t>
              </a:r>
            </a:p>
          </p:txBody>
        </p:sp>
        <p:sp>
          <p:nvSpPr>
            <p:cNvPr id="24" name="Left-Right Arrow 23">
              <a:extLst>
                <a:ext uri="{FF2B5EF4-FFF2-40B4-BE49-F238E27FC236}">
                  <a16:creationId xmlns:a16="http://schemas.microsoft.com/office/drawing/2014/main" id="{338562EB-CA88-0779-7591-6E7F2C9828E7}"/>
                </a:ext>
              </a:extLst>
            </p:cNvPr>
            <p:cNvSpPr/>
            <p:nvPr/>
          </p:nvSpPr>
          <p:spPr bwMode="auto">
            <a:xfrm rot="16200000">
              <a:off x="2606174" y="3855034"/>
              <a:ext cx="648669" cy="479487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KR" sz="1800" b="1" i="0" u="none" strike="noStrike" cap="none" normalizeH="0" baseline="0" dirty="0">
                  <a:ln>
                    <a:noFill/>
                  </a:ln>
                  <a:solidFill>
                    <a:schemeClr val="tx2"/>
                  </a:solidFill>
                  <a:effectLst/>
                  <a:latin typeface="Arial" pitchFamily="34" charset="0"/>
                </a:rPr>
                <a:t>IPC</a:t>
              </a: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8B8B9E7-110E-D89A-6D77-20AC75951C57}"/>
              </a:ext>
            </a:extLst>
          </p:cNvPr>
          <p:cNvSpPr txBox="1">
            <a:spLocks/>
          </p:cNvSpPr>
          <p:nvPr/>
        </p:nvSpPr>
        <p:spPr bwMode="auto">
          <a:xfrm>
            <a:off x="4405219" y="3235533"/>
            <a:ext cx="4410784" cy="3180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0" kern="0" dirty="0">
                <a:solidFill>
                  <a:srgbClr val="FF0000"/>
                </a:solidFill>
              </a:rPr>
              <a:t>High engineering/development costs</a:t>
            </a:r>
          </a:p>
          <a:p>
            <a:r>
              <a:rPr lang="en-US" b="0" kern="0" dirty="0">
                <a:solidFill>
                  <a:srgbClr val="FF0000"/>
                </a:solidFill>
              </a:rPr>
              <a:t>High costs of Inter Process Communication (IPC)</a:t>
            </a:r>
          </a:p>
          <a:p>
            <a:endParaRPr lang="en-KR" b="0" kern="0" dirty="0">
              <a:solidFill>
                <a:srgbClr val="FF0000"/>
              </a:solidFill>
            </a:endParaRPr>
          </a:p>
          <a:p>
            <a:endParaRPr lang="en-KR" b="0" kern="0" dirty="0">
              <a:solidFill>
                <a:srgbClr val="FF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530C64-CD44-3C51-101D-107D175C46B8}"/>
              </a:ext>
            </a:extLst>
          </p:cNvPr>
          <p:cNvSpPr/>
          <p:nvPr/>
        </p:nvSpPr>
        <p:spPr bwMode="auto">
          <a:xfrm>
            <a:off x="1331640" y="2276872"/>
            <a:ext cx="6675572" cy="2674204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sz="3200" dirty="0"/>
              <a:t>Fine-grained, flexible, and low-overhead isolation primitives are needed!</a:t>
            </a:r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18657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5E682-3B96-A3C2-2D30-C947A669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In-process Isolation Primities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8C5C1-6DAE-21C6-4690-C20EB310E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Intel PKU</a:t>
            </a:r>
          </a:p>
          <a:p>
            <a:r>
              <a:rPr lang="en-KR" dirty="0"/>
              <a:t>ARM MTE</a:t>
            </a:r>
          </a:p>
          <a:p>
            <a:r>
              <a:rPr lang="en-KR" dirty="0"/>
              <a:t>CHERI</a:t>
            </a:r>
          </a:p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52E35-1FF4-9C6A-A1DB-919A4D2F0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865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0A48-7A23-A0B2-F2F4-BD4955B6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F1E7-E831-5D92-F3FB-CB4D9396B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OS Protection in Modern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45341-848F-6A28-4DC5-6F6E9AF37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0" dirty="0"/>
              <a:t>OS-provided protection is no longer sufficient in the modern age</a:t>
            </a:r>
          </a:p>
          <a:p>
            <a:r>
              <a:rPr lang="en-KR" b="0" dirty="0">
                <a:solidFill>
                  <a:schemeClr val="bg2"/>
                </a:solidFill>
              </a:rPr>
              <a:t>Individual programs </a:t>
            </a:r>
            <a:r>
              <a:rPr lang="en-US" b="0" dirty="0">
                <a:solidFill>
                  <a:schemeClr val="bg2"/>
                </a:solidFill>
              </a:rPr>
              <a:t>are</a:t>
            </a:r>
            <a:r>
              <a:rPr lang="en-KR" b="0" dirty="0">
                <a:solidFill>
                  <a:schemeClr val="bg2"/>
                </a:solidFill>
              </a:rPr>
              <a:t> increasingly complicated and authority-consolidating -&gt; need for </a:t>
            </a:r>
            <a:r>
              <a:rPr lang="en-KR" dirty="0">
                <a:solidFill>
                  <a:schemeClr val="bg2"/>
                </a:solidFill>
              </a:rPr>
              <a:t>fine-grained security</a:t>
            </a:r>
          </a:p>
          <a:p>
            <a:r>
              <a:rPr lang="en-KR" b="0" dirty="0">
                <a:solidFill>
                  <a:schemeClr val="accent2"/>
                </a:solidFill>
              </a:rPr>
              <a:t>Modern use cases (e.g., trusted execution) </a:t>
            </a:r>
            <a:r>
              <a:rPr lang="en-KR" dirty="0">
                <a:solidFill>
                  <a:schemeClr val="accent2"/>
                </a:solidFill>
              </a:rPr>
              <a:t>rethink system trust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D46F2-1C83-AFEA-58C8-70E7631A2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0182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E0B5-0E95-AD5F-8EAB-7415F9CA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Need for trust in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285C8-81E7-E653-DAAA-FCDA3D12B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0" dirty="0"/>
              <a:t>Cloud computing host</a:t>
            </a:r>
            <a:r>
              <a:rPr lang="en-US" b="0" dirty="0"/>
              <a:t>s</a:t>
            </a:r>
            <a:r>
              <a:rPr lang="en-KR" b="0" dirty="0"/>
              <a:t> critical services in finance, healthcare</a:t>
            </a:r>
          </a:p>
          <a:p>
            <a:r>
              <a:rPr lang="en-KR" b="0" dirty="0"/>
              <a:t>Yet, cloud services are constantly under attack, costing companies billions of dollar</a:t>
            </a:r>
            <a:r>
              <a:rPr lang="en-US" b="0" dirty="0"/>
              <a:t>s</a:t>
            </a:r>
            <a:r>
              <a:rPr lang="en-KR" b="0" dirty="0"/>
              <a:t> in remediation*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AC2AC-C808-2DA9-70FC-12F1BDF23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21</a:t>
            </a:fld>
            <a:endParaRPr lang="en-US" altLang="ja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6C895-74BD-DBC9-652A-77D578EDB2A5}"/>
              </a:ext>
            </a:extLst>
          </p:cNvPr>
          <p:cNvSpPr txBox="1"/>
          <p:nvPr/>
        </p:nvSpPr>
        <p:spPr>
          <a:xfrm>
            <a:off x="467544" y="5908402"/>
            <a:ext cx="849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800" b="0" dirty="0"/>
              <a:t>*IBM, </a:t>
            </a:r>
            <a:r>
              <a:rPr lang="en-US" sz="1800" b="0" dirty="0"/>
              <a:t>Cost of a Data Breach Report 2025</a:t>
            </a:r>
          </a:p>
        </p:txBody>
      </p:sp>
    </p:spTree>
    <p:extLst>
      <p:ext uri="{BB962C8B-B14F-4D97-AF65-F5344CB8AC3E}">
        <p14:creationId xmlns:p14="http://schemas.microsoft.com/office/powerpoint/2010/main" val="309084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A78-4309-9699-D6FA-604ECD47C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78A1-4B1F-0E50-7CD0-F3A91A58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Need for trust in cloud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431A1-40ED-750E-1089-00C54C892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22</a:t>
            </a:fld>
            <a:endParaRPr lang="en-US" altLang="ja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27B10-8826-7F84-93E4-66D53791FB5E}"/>
              </a:ext>
            </a:extLst>
          </p:cNvPr>
          <p:cNvSpPr/>
          <p:nvPr/>
        </p:nvSpPr>
        <p:spPr bwMode="auto">
          <a:xfrm>
            <a:off x="5318962" y="4949179"/>
            <a:ext cx="2880320" cy="718247"/>
          </a:xfrm>
          <a:prstGeom prst="rect">
            <a:avLst/>
          </a:prstGeom>
          <a:noFill/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/>
              <a:t>Operating System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27D44-026B-790A-5645-B82370923014}"/>
              </a:ext>
            </a:extLst>
          </p:cNvPr>
          <p:cNvSpPr/>
          <p:nvPr/>
        </p:nvSpPr>
        <p:spPr bwMode="auto">
          <a:xfrm>
            <a:off x="5004048" y="3401691"/>
            <a:ext cx="1656184" cy="768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800" dirty="0"/>
              <a:t>Sensitive Computation</a:t>
            </a:r>
            <a:endParaRPr kumimoji="0" lang="en-KR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C7EBF9-CDF8-3691-1436-BAB2AA747B4E}"/>
              </a:ext>
            </a:extLst>
          </p:cNvPr>
          <p:cNvSpPr/>
          <p:nvPr/>
        </p:nvSpPr>
        <p:spPr bwMode="auto">
          <a:xfrm>
            <a:off x="7380312" y="3429000"/>
            <a:ext cx="1296144" cy="768099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800" dirty="0"/>
              <a:t>Malicious App</a:t>
            </a:r>
            <a:endParaRPr kumimoji="0" lang="en-KR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9" name="Left-Right Arrow 8">
            <a:extLst>
              <a:ext uri="{FF2B5EF4-FFF2-40B4-BE49-F238E27FC236}">
                <a16:creationId xmlns:a16="http://schemas.microsoft.com/office/drawing/2014/main" id="{93BC586F-050E-B5ED-380B-4DCDC7083A6B}"/>
              </a:ext>
            </a:extLst>
          </p:cNvPr>
          <p:cNvSpPr/>
          <p:nvPr/>
        </p:nvSpPr>
        <p:spPr bwMode="auto">
          <a:xfrm>
            <a:off x="5688124" y="4338538"/>
            <a:ext cx="1944216" cy="543691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system calls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44B3BBB-99AF-1F43-2481-B826FB368227}"/>
              </a:ext>
            </a:extLst>
          </p:cNvPr>
          <p:cNvSpPr>
            <a:spLocks/>
          </p:cNvSpPr>
          <p:nvPr/>
        </p:nvSpPr>
        <p:spPr bwMode="auto">
          <a:xfrm rot="10800000">
            <a:off x="6759123" y="3354509"/>
            <a:ext cx="477213" cy="91707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rgbClr val="FF0000"/>
                </a:solidFill>
                <a:latin typeface="Arial" pitchFamily="34" charset="0"/>
              </a:rPr>
              <a:t>X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D05A8C-E85B-F07C-0B41-CE621A483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79" y="3749844"/>
            <a:ext cx="518859" cy="518859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5D3AAD58-E2B3-3745-A952-D987A22A6045}"/>
              </a:ext>
            </a:extLst>
          </p:cNvPr>
          <p:cNvSpPr>
            <a:spLocks/>
          </p:cNvSpPr>
          <p:nvPr/>
        </p:nvSpPr>
        <p:spPr bwMode="auto">
          <a:xfrm rot="5400000">
            <a:off x="7502136" y="4071619"/>
            <a:ext cx="477213" cy="91707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rgbClr val="FF0000"/>
                </a:solidFill>
                <a:latin typeface="Arial" pitchFamily="34" charset="0"/>
              </a:rPr>
              <a:t>X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4F7D3D-72D6-FA45-D2A6-9CD382F940A5}"/>
              </a:ext>
            </a:extLst>
          </p:cNvPr>
          <p:cNvSpPr/>
          <p:nvPr/>
        </p:nvSpPr>
        <p:spPr bwMode="auto">
          <a:xfrm>
            <a:off x="5318962" y="4945925"/>
            <a:ext cx="2880320" cy="718247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/>
              <a:t>Operating System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A31FB6-F971-E0ED-7597-191FCB33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199" y="4820786"/>
            <a:ext cx="518859" cy="518859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75F98D2-708A-3825-75FD-1787DF03B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246" y="1093580"/>
            <a:ext cx="8539255" cy="2386291"/>
          </a:xfrm>
        </p:spPr>
        <p:txBody>
          <a:bodyPr/>
          <a:lstStyle/>
          <a:p>
            <a:r>
              <a:rPr lang="en-US" b="0" dirty="0"/>
              <a:t>OS protection isolates applications from each other</a:t>
            </a:r>
          </a:p>
          <a:p>
            <a:r>
              <a:rPr lang="en-US" b="0" dirty="0"/>
              <a:t>And isolates applications from OS (privilege rings). But …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3EDEE6-1826-849E-1C95-1F139CC53437}"/>
              </a:ext>
            </a:extLst>
          </p:cNvPr>
          <p:cNvSpPr txBox="1">
            <a:spLocks/>
          </p:cNvSpPr>
          <p:nvPr/>
        </p:nvSpPr>
        <p:spPr bwMode="auto">
          <a:xfrm>
            <a:off x="254573" y="3425971"/>
            <a:ext cx="4944631" cy="257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0" kern="0" dirty="0">
                <a:solidFill>
                  <a:srgbClr val="FF0000"/>
                </a:solidFill>
              </a:rPr>
              <a:t>They expose a huge attack surface (millions of LoC)</a:t>
            </a:r>
          </a:p>
          <a:p>
            <a:r>
              <a:rPr lang="en-US" b="0" kern="0" dirty="0">
                <a:solidFill>
                  <a:srgbClr val="FF0000"/>
                </a:solidFill>
              </a:rPr>
              <a:t>Insider attacks: cloud provider can install malicious OSes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C8F4093-9D14-0B1B-F475-A9B9E3125D37}"/>
              </a:ext>
            </a:extLst>
          </p:cNvPr>
          <p:cNvSpPr>
            <a:spLocks/>
          </p:cNvSpPr>
          <p:nvPr/>
        </p:nvSpPr>
        <p:spPr bwMode="auto">
          <a:xfrm rot="5400000">
            <a:off x="7322619" y="4357782"/>
            <a:ext cx="997740" cy="505203"/>
          </a:xfrm>
          <a:prstGeom prst="rightArrow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3DCCEDD3-9882-A61C-2CDE-C2ED8DAEC59C}"/>
              </a:ext>
            </a:extLst>
          </p:cNvPr>
          <p:cNvSpPr>
            <a:spLocks/>
          </p:cNvSpPr>
          <p:nvPr/>
        </p:nvSpPr>
        <p:spPr bwMode="auto">
          <a:xfrm rot="16200000">
            <a:off x="5017184" y="4335009"/>
            <a:ext cx="997740" cy="505203"/>
          </a:xfrm>
          <a:prstGeom prst="rightArrow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20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6" grpId="0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B53B6-DC4F-4AB1-E484-75F63806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Trusted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AA66C-3A80-678B-A394-7006DE3B2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96975"/>
            <a:ext cx="7990656" cy="1223913"/>
          </a:xfrm>
        </p:spPr>
        <p:txBody>
          <a:bodyPr/>
          <a:lstStyle/>
          <a:p>
            <a:pPr marL="0" indent="0">
              <a:buNone/>
            </a:pPr>
            <a:r>
              <a:rPr lang="en-KR" b="0" dirty="0"/>
              <a:t>Re-establish trust in </a:t>
            </a:r>
            <a:r>
              <a:rPr lang="en-US" b="0" dirty="0"/>
              <a:t>the </a:t>
            </a:r>
            <a:r>
              <a:rPr lang="en-KR" b="0" dirty="0"/>
              <a:t>cloud through  software/hardware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60EF0-D73F-57BD-8417-E05A8488B7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23</a:t>
            </a:fld>
            <a:endParaRPr lang="en-US" altLang="ja-JP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AB62B-A16C-0E40-AE99-A1360F744E56}"/>
              </a:ext>
            </a:extLst>
          </p:cNvPr>
          <p:cNvSpPr/>
          <p:nvPr/>
        </p:nvSpPr>
        <p:spPr bwMode="auto">
          <a:xfrm>
            <a:off x="5371272" y="4214678"/>
            <a:ext cx="2880320" cy="718247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/>
              <a:t>Privilege software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8574E9-6CF6-0A42-496C-041BDBD61E45}"/>
              </a:ext>
            </a:extLst>
          </p:cNvPr>
          <p:cNvSpPr/>
          <p:nvPr/>
        </p:nvSpPr>
        <p:spPr bwMode="auto">
          <a:xfrm>
            <a:off x="4435168" y="2705868"/>
            <a:ext cx="1656184" cy="768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800" dirty="0"/>
              <a:t>Sensitive Computation</a:t>
            </a:r>
            <a:endParaRPr kumimoji="0" lang="en-KR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C94435-8BD6-EB21-E309-B5E123FBC59A}"/>
              </a:ext>
            </a:extLst>
          </p:cNvPr>
          <p:cNvSpPr/>
          <p:nvPr/>
        </p:nvSpPr>
        <p:spPr bwMode="auto">
          <a:xfrm>
            <a:off x="6811432" y="2733177"/>
            <a:ext cx="1296144" cy="768099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800" dirty="0"/>
              <a:t>Malicious App</a:t>
            </a:r>
            <a:endParaRPr kumimoji="0" lang="en-KR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F2787713-55A5-2E4B-5006-AC0484E294BC}"/>
              </a:ext>
            </a:extLst>
          </p:cNvPr>
          <p:cNvSpPr/>
          <p:nvPr/>
        </p:nvSpPr>
        <p:spPr bwMode="auto">
          <a:xfrm>
            <a:off x="5839324" y="3538278"/>
            <a:ext cx="1944216" cy="543691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system calls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32E256A-FA74-845F-3B8F-6117793E4AAB}"/>
              </a:ext>
            </a:extLst>
          </p:cNvPr>
          <p:cNvSpPr>
            <a:spLocks/>
          </p:cNvSpPr>
          <p:nvPr/>
        </p:nvSpPr>
        <p:spPr bwMode="auto">
          <a:xfrm rot="10800000">
            <a:off x="6190243" y="2658686"/>
            <a:ext cx="477213" cy="917079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rgbClr val="FF0000"/>
                </a:solidFill>
                <a:latin typeface="Arial" pitchFamily="34" charset="0"/>
              </a:rPr>
              <a:t>X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2E0141F-44C7-540A-E8CA-AE9075191CFE}"/>
              </a:ext>
            </a:extLst>
          </p:cNvPr>
          <p:cNvSpPr>
            <a:spLocks/>
          </p:cNvSpPr>
          <p:nvPr/>
        </p:nvSpPr>
        <p:spPr bwMode="auto">
          <a:xfrm rot="5400000">
            <a:off x="7422098" y="3605376"/>
            <a:ext cx="997740" cy="505203"/>
          </a:xfrm>
          <a:prstGeom prst="rightArrow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0459C3-2A9C-9AA4-F71A-9588B5BF095E}"/>
              </a:ext>
            </a:extLst>
          </p:cNvPr>
          <p:cNvSpPr/>
          <p:nvPr/>
        </p:nvSpPr>
        <p:spPr bwMode="auto">
          <a:xfrm>
            <a:off x="6163280" y="5140389"/>
            <a:ext cx="1296224" cy="7680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/>
              <a:t>Root of trust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BADF068D-01C3-FD44-4416-518FB8F840EE}"/>
              </a:ext>
            </a:extLst>
          </p:cNvPr>
          <p:cNvSpPr>
            <a:spLocks/>
          </p:cNvSpPr>
          <p:nvPr/>
        </p:nvSpPr>
        <p:spPr bwMode="auto">
          <a:xfrm rot="16200000">
            <a:off x="5093099" y="3471797"/>
            <a:ext cx="818570" cy="917079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rgbClr val="FF0000"/>
                </a:solidFill>
                <a:latin typeface="Arial" pitchFamily="34" charset="0"/>
              </a:rPr>
              <a:t>X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pic>
        <p:nvPicPr>
          <p:cNvPr id="38916" name="Picture 4" descr="Users group - Free people icons">
            <a:extLst>
              <a:ext uri="{FF2B5EF4-FFF2-40B4-BE49-F238E27FC236}">
                <a16:creationId xmlns:a16="http://schemas.microsoft.com/office/drawing/2014/main" id="{FB945620-55B9-0419-C722-0944483A9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12" y="3605358"/>
            <a:ext cx="1118821" cy="111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0E1298E-BF0D-55C3-86C4-C736D94607C0}"/>
              </a:ext>
            </a:extLst>
          </p:cNvPr>
          <p:cNvSpPr txBox="1"/>
          <p:nvPr/>
        </p:nvSpPr>
        <p:spPr>
          <a:xfrm>
            <a:off x="3572523" y="3666470"/>
            <a:ext cx="1455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>
                <a:solidFill>
                  <a:schemeClr val="accent2">
                    <a:lumMod val="75000"/>
                  </a:schemeClr>
                </a:solidFill>
              </a:rPr>
              <a:t>Runtime Isolation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E538E3-5453-4F65-BE61-EA6FFE465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475" y="4571107"/>
            <a:ext cx="518859" cy="5188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9811EC8-551D-34F9-34AA-93ADB7D7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135" y="3086149"/>
            <a:ext cx="518859" cy="518859"/>
          </a:xfrm>
          <a:prstGeom prst="rect">
            <a:avLst/>
          </a:prstGeom>
        </p:spPr>
      </p:pic>
      <p:sp>
        <p:nvSpPr>
          <p:cNvPr id="30" name="Left-Right Arrow 29">
            <a:extLst>
              <a:ext uri="{FF2B5EF4-FFF2-40B4-BE49-F238E27FC236}">
                <a16:creationId xmlns:a16="http://schemas.microsoft.com/office/drawing/2014/main" id="{D8CAEA7F-CC45-4B57-632C-F396A8D396F5}"/>
              </a:ext>
            </a:extLst>
          </p:cNvPr>
          <p:cNvSpPr/>
          <p:nvPr/>
        </p:nvSpPr>
        <p:spPr bwMode="auto">
          <a:xfrm rot="357082">
            <a:off x="2383417" y="5185167"/>
            <a:ext cx="3715971" cy="543691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Trust establishment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E991D0-89B2-0584-DAEC-1D22ABB82F79}"/>
              </a:ext>
            </a:extLst>
          </p:cNvPr>
          <p:cNvSpPr txBox="1"/>
          <p:nvPr/>
        </p:nvSpPr>
        <p:spPr>
          <a:xfrm>
            <a:off x="464554" y="4702092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Cloud Users</a:t>
            </a: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F89DBE81-C633-D96C-7C7A-6B1C4686D49C}"/>
              </a:ext>
            </a:extLst>
          </p:cNvPr>
          <p:cNvSpPr>
            <a:spLocks/>
          </p:cNvSpPr>
          <p:nvPr/>
        </p:nvSpPr>
        <p:spPr bwMode="auto">
          <a:xfrm rot="20659720">
            <a:off x="2215266" y="3001683"/>
            <a:ext cx="2156577" cy="6725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600" b="0" dirty="0">
                <a:solidFill>
                  <a:schemeClr val="tx1"/>
                </a:solidFill>
                <a:latin typeface="Arial" pitchFamily="34" charset="0"/>
              </a:rPr>
              <a:t>deploy</a:t>
            </a:r>
            <a:endParaRPr kumimoji="0" lang="en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36E3D00-29A5-07CF-99CA-80508762C2F9}"/>
              </a:ext>
            </a:extLst>
          </p:cNvPr>
          <p:cNvSpPr/>
          <p:nvPr/>
        </p:nvSpPr>
        <p:spPr bwMode="auto">
          <a:xfrm>
            <a:off x="1331640" y="2276872"/>
            <a:ext cx="6675572" cy="2674204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sz="3200" dirty="0"/>
              <a:t>It is time to rethink the OS’s role </a:t>
            </a:r>
            <a:r>
              <a:rPr lang="en-US" sz="3200" dirty="0"/>
              <a:t>in</a:t>
            </a:r>
            <a:r>
              <a:rPr lang="en-KR" sz="3200" dirty="0"/>
              <a:t> protection</a:t>
            </a:r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56873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1" grpId="0"/>
      <p:bldP spid="30" grpId="0" animBg="1"/>
      <p:bldP spid="4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CF29F-E54A-300C-6599-105A2FAB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Modern hardware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AA72-6DDE-5912-7C26-A9191DE4D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KR" b="0" dirty="0"/>
              <a:t>Modern hardware vendors introduce hardware features addressing limitations of legacy OS protection</a:t>
            </a:r>
          </a:p>
          <a:p>
            <a:r>
              <a:rPr lang="en-KR" b="0" dirty="0">
                <a:solidFill>
                  <a:schemeClr val="accent6"/>
                </a:solidFill>
              </a:rPr>
              <a:t>Need for finer-grained Isolation </a:t>
            </a:r>
            <a:r>
              <a:rPr lang="en-KR" dirty="0"/>
              <a:t>→</a:t>
            </a:r>
            <a:r>
              <a:rPr lang="en-KR" b="0" dirty="0">
                <a:solidFill>
                  <a:schemeClr val="accent6"/>
                </a:solidFill>
              </a:rPr>
              <a:t> </a:t>
            </a:r>
            <a:r>
              <a:rPr lang="en-KR" dirty="0"/>
              <a:t>In-process memory isolation primitives (Isolation)</a:t>
            </a:r>
          </a:p>
          <a:p>
            <a:r>
              <a:rPr lang="en-KR" b="0" dirty="0">
                <a:solidFill>
                  <a:schemeClr val="accent6"/>
                </a:solidFill>
              </a:rPr>
              <a:t>Trusted execution </a:t>
            </a:r>
            <a:r>
              <a:rPr lang="en-KR" dirty="0"/>
              <a:t>→ Hardware  TEEs &amp; Confidential virtual machines (CVM)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B9E2A-2A31-5DC7-3097-6F91E3293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59456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128B9-BB8B-DDFA-F449-D7962233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Summary: Trends in HW Protection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50010-BCEB-B5A6-B185-AC95CE6CA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25</a:t>
            </a:fld>
            <a:endParaRPr lang="en-US" altLang="ja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47C5A-D411-E134-3395-623F951C4803}"/>
              </a:ext>
            </a:extLst>
          </p:cNvPr>
          <p:cNvSpPr txBox="1"/>
          <p:nvPr/>
        </p:nvSpPr>
        <p:spPr>
          <a:xfrm>
            <a:off x="5378645" y="5860934"/>
            <a:ext cx="2953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Domain Expansion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A80181-DA92-D4E7-290E-8B554ED00025}"/>
              </a:ext>
            </a:extLst>
          </p:cNvPr>
          <p:cNvSpPr/>
          <p:nvPr/>
        </p:nvSpPr>
        <p:spPr bwMode="auto">
          <a:xfrm>
            <a:off x="5702944" y="2412242"/>
            <a:ext cx="284722" cy="4396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B34B48-389E-A22A-9E45-1502FABDA7F9}"/>
              </a:ext>
            </a:extLst>
          </p:cNvPr>
          <p:cNvSpPr/>
          <p:nvPr/>
        </p:nvSpPr>
        <p:spPr bwMode="auto">
          <a:xfrm>
            <a:off x="5378645" y="2985258"/>
            <a:ext cx="2953053" cy="576210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dirty="0"/>
              <a:t>Hypervisor</a:t>
            </a:r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CD1102-D0EB-B75A-B2D8-92CDFCCAD859}"/>
              </a:ext>
            </a:extLst>
          </p:cNvPr>
          <p:cNvSpPr/>
          <p:nvPr/>
        </p:nvSpPr>
        <p:spPr bwMode="auto">
          <a:xfrm>
            <a:off x="6295625" y="2304974"/>
            <a:ext cx="1531132" cy="576210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dirty="0"/>
              <a:t>OS</a:t>
            </a:r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4060F0-AF42-191F-C90E-5A19E0E6AF81}"/>
              </a:ext>
            </a:extLst>
          </p:cNvPr>
          <p:cNvSpPr/>
          <p:nvPr/>
        </p:nvSpPr>
        <p:spPr bwMode="auto">
          <a:xfrm>
            <a:off x="5360832" y="4119899"/>
            <a:ext cx="2935241" cy="10200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7AA1BA-ED18-A493-06E2-BDF28A9125D2}"/>
              </a:ext>
            </a:extLst>
          </p:cNvPr>
          <p:cNvSpPr/>
          <p:nvPr/>
        </p:nvSpPr>
        <p:spPr bwMode="auto">
          <a:xfrm>
            <a:off x="5381899" y="5234132"/>
            <a:ext cx="2953053" cy="576210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dirty="0"/>
              <a:t>Hypervisor</a:t>
            </a:r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D23E3D-4C1E-7962-06A0-3FC9D02ECA33}"/>
              </a:ext>
            </a:extLst>
          </p:cNvPr>
          <p:cNvSpPr/>
          <p:nvPr/>
        </p:nvSpPr>
        <p:spPr bwMode="auto">
          <a:xfrm>
            <a:off x="6383085" y="4466679"/>
            <a:ext cx="1531132" cy="5762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dirty="0"/>
              <a:t>OS</a:t>
            </a:r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8F2EC7-B011-7FED-5A63-AC7A776A6A3C}"/>
              </a:ext>
            </a:extLst>
          </p:cNvPr>
          <p:cNvSpPr txBox="1"/>
          <p:nvPr/>
        </p:nvSpPr>
        <p:spPr>
          <a:xfrm>
            <a:off x="5428427" y="190884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accent2"/>
                </a:solidFill>
              </a:rPr>
              <a:t>App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5822E6-4302-7E31-851E-55EAE06BC002}"/>
              </a:ext>
            </a:extLst>
          </p:cNvPr>
          <p:cNvSpPr/>
          <p:nvPr/>
        </p:nvSpPr>
        <p:spPr bwMode="auto">
          <a:xfrm>
            <a:off x="5688123" y="4547637"/>
            <a:ext cx="284722" cy="4396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919E7F-5068-09D8-2444-EE2D8BE24F2D}"/>
              </a:ext>
            </a:extLst>
          </p:cNvPr>
          <p:cNvSpPr txBox="1"/>
          <p:nvPr/>
        </p:nvSpPr>
        <p:spPr>
          <a:xfrm>
            <a:off x="5451243" y="4119899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solidFill>
                  <a:schemeClr val="accent2"/>
                </a:solidFill>
              </a:rPr>
              <a:t>App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ACD803-A5CA-A27B-5E1C-7294765A116D}"/>
              </a:ext>
            </a:extLst>
          </p:cNvPr>
          <p:cNvSpPr/>
          <p:nvPr/>
        </p:nvSpPr>
        <p:spPr bwMode="auto">
          <a:xfrm>
            <a:off x="755826" y="2599614"/>
            <a:ext cx="3036210" cy="567654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dirty="0"/>
              <a:t>OS</a:t>
            </a:r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BD347BB-471B-1FF7-2A88-245A7F0A37B3}"/>
              </a:ext>
            </a:extLst>
          </p:cNvPr>
          <p:cNvSpPr/>
          <p:nvPr/>
        </p:nvSpPr>
        <p:spPr bwMode="auto">
          <a:xfrm>
            <a:off x="755825" y="1924134"/>
            <a:ext cx="1440160" cy="526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K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Process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C08B50-48FE-57B0-8D12-94F53748F373}"/>
              </a:ext>
            </a:extLst>
          </p:cNvPr>
          <p:cNvSpPr/>
          <p:nvPr/>
        </p:nvSpPr>
        <p:spPr bwMode="auto">
          <a:xfrm>
            <a:off x="2340001" y="1924134"/>
            <a:ext cx="1440160" cy="5262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0" lang="en-K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Process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56BAA4-2268-BBBE-6F96-5829204CDA62}"/>
              </a:ext>
            </a:extLst>
          </p:cNvPr>
          <p:cNvSpPr/>
          <p:nvPr/>
        </p:nvSpPr>
        <p:spPr bwMode="auto">
          <a:xfrm>
            <a:off x="730594" y="5234132"/>
            <a:ext cx="3036210" cy="567654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dirty="0"/>
              <a:t>OS</a:t>
            </a:r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E78504-7F6B-25ED-59BD-042C86F9B220}"/>
              </a:ext>
            </a:extLst>
          </p:cNvPr>
          <p:cNvSpPr/>
          <p:nvPr/>
        </p:nvSpPr>
        <p:spPr bwMode="auto">
          <a:xfrm>
            <a:off x="738918" y="3873877"/>
            <a:ext cx="3036210" cy="12243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ABE3410-4E8C-EE12-791E-2CC6948781C8}"/>
              </a:ext>
            </a:extLst>
          </p:cNvPr>
          <p:cNvSpPr/>
          <p:nvPr/>
        </p:nvSpPr>
        <p:spPr bwMode="auto">
          <a:xfrm>
            <a:off x="972060" y="4322964"/>
            <a:ext cx="284722" cy="3773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B9DECC-193E-76E9-DF7F-B5EA5751F89F}"/>
              </a:ext>
            </a:extLst>
          </p:cNvPr>
          <p:cNvSpPr/>
          <p:nvPr/>
        </p:nvSpPr>
        <p:spPr bwMode="auto">
          <a:xfrm>
            <a:off x="1723942" y="4322964"/>
            <a:ext cx="284722" cy="3773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DD2A0F-1DC6-964A-A24D-83ABB9C24377}"/>
              </a:ext>
            </a:extLst>
          </p:cNvPr>
          <p:cNvSpPr/>
          <p:nvPr/>
        </p:nvSpPr>
        <p:spPr bwMode="auto">
          <a:xfrm>
            <a:off x="2475824" y="4322964"/>
            <a:ext cx="284722" cy="3773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84618F-B39B-3234-51CB-73D9E5588406}"/>
              </a:ext>
            </a:extLst>
          </p:cNvPr>
          <p:cNvSpPr/>
          <p:nvPr/>
        </p:nvSpPr>
        <p:spPr bwMode="auto">
          <a:xfrm>
            <a:off x="3227707" y="4322964"/>
            <a:ext cx="284722" cy="3773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7BEB46-A207-348C-FF2E-D6F4D0C06F56}"/>
              </a:ext>
            </a:extLst>
          </p:cNvPr>
          <p:cNvSpPr txBox="1"/>
          <p:nvPr/>
        </p:nvSpPr>
        <p:spPr>
          <a:xfrm>
            <a:off x="1449151" y="3861300"/>
            <a:ext cx="14971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KR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Process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69269F-7F85-B857-7BAD-BD1A0E612E49}"/>
              </a:ext>
            </a:extLst>
          </p:cNvPr>
          <p:cNvSpPr txBox="1"/>
          <p:nvPr/>
        </p:nvSpPr>
        <p:spPr>
          <a:xfrm>
            <a:off x="738918" y="4636574"/>
            <a:ext cx="30362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KR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Compartments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5A18D74E-3796-169D-1CF4-E28271E2BD14}"/>
              </a:ext>
            </a:extLst>
          </p:cNvPr>
          <p:cNvSpPr>
            <a:spLocks/>
          </p:cNvSpPr>
          <p:nvPr/>
        </p:nvSpPr>
        <p:spPr bwMode="auto">
          <a:xfrm rot="5400000">
            <a:off x="2006250" y="2019213"/>
            <a:ext cx="484898" cy="2953053"/>
          </a:xfrm>
          <a:prstGeom prst="rightArrow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8" name="Right Arrow 57">
            <a:extLst>
              <a:ext uri="{FF2B5EF4-FFF2-40B4-BE49-F238E27FC236}">
                <a16:creationId xmlns:a16="http://schemas.microsoft.com/office/drawing/2014/main" id="{4775B61C-C752-B718-4EEB-DA90FA9FD1A2}"/>
              </a:ext>
            </a:extLst>
          </p:cNvPr>
          <p:cNvSpPr>
            <a:spLocks/>
          </p:cNvSpPr>
          <p:nvPr/>
        </p:nvSpPr>
        <p:spPr bwMode="auto">
          <a:xfrm rot="5400000">
            <a:off x="6657621" y="2371910"/>
            <a:ext cx="323849" cy="2953053"/>
          </a:xfrm>
          <a:prstGeom prst="rightArrow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389F17-C1B2-E165-E951-A8483D422742}"/>
              </a:ext>
            </a:extLst>
          </p:cNvPr>
          <p:cNvSpPr txBox="1"/>
          <p:nvPr/>
        </p:nvSpPr>
        <p:spPr>
          <a:xfrm>
            <a:off x="566187" y="5860935"/>
            <a:ext cx="3365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Domain Compression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1999C1-516A-33A9-E2EF-67059E96FAF1}"/>
              </a:ext>
            </a:extLst>
          </p:cNvPr>
          <p:cNvSpPr txBox="1"/>
          <p:nvPr/>
        </p:nvSpPr>
        <p:spPr>
          <a:xfrm>
            <a:off x="457984" y="1294684"/>
            <a:ext cx="3581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800" dirty="0"/>
              <a:t>In-process Isolation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E5D986-39BE-B194-1A13-E0952458126C}"/>
              </a:ext>
            </a:extLst>
          </p:cNvPr>
          <p:cNvSpPr txBox="1"/>
          <p:nvPr/>
        </p:nvSpPr>
        <p:spPr>
          <a:xfrm>
            <a:off x="5033672" y="1121293"/>
            <a:ext cx="35717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800" dirty="0"/>
              <a:t>Confidential Virtual </a:t>
            </a:r>
          </a:p>
          <a:p>
            <a:pPr algn="ctr"/>
            <a:r>
              <a:rPr lang="en-KR" sz="2800" dirty="0"/>
              <a:t>Machines</a:t>
            </a:r>
          </a:p>
        </p:txBody>
      </p:sp>
    </p:spTree>
    <p:extLst>
      <p:ext uri="{BB962C8B-B14F-4D97-AF65-F5344CB8AC3E}">
        <p14:creationId xmlns:p14="http://schemas.microsoft.com/office/powerpoint/2010/main" val="130736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21" grpId="0" animBg="1"/>
      <p:bldP spid="22" grpId="0" animBg="1"/>
      <p:bldP spid="32" grpId="0" animBg="1"/>
      <p:bldP spid="33" grpId="0" animBg="1"/>
      <p:bldP spid="34" grpId="0" animBg="1"/>
      <p:bldP spid="37" grpId="0"/>
      <p:bldP spid="40" grpId="0" animBg="1"/>
      <p:bldP spid="41" grpId="0"/>
      <p:bldP spid="42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1" grpId="0" animBg="1"/>
      <p:bldP spid="52" grpId="0" animBg="1"/>
      <p:bldP spid="53" grpId="0" animBg="1"/>
      <p:bldP spid="55" grpId="0"/>
      <p:bldP spid="56" grpId="0"/>
      <p:bldP spid="57" grpId="0" animBg="1"/>
      <p:bldP spid="58" grpId="0" animBg="1"/>
      <p:bldP spid="5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FB11-D774-0C3E-7725-8EA32D73C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0E005-26FD-FAD9-F839-4428595EC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26</a:t>
            </a:fld>
            <a:endParaRPr lang="en-US" altLang="ja-JP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37A25E3-2366-B460-891A-3414EE69D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9144000" cy="503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2BC6183-BEB7-7109-3656-29015713285C}"/>
              </a:ext>
            </a:extLst>
          </p:cNvPr>
          <p:cNvSpPr txBox="1">
            <a:spLocks noChangeArrowheads="1"/>
          </p:cNvSpPr>
          <p:nvPr/>
        </p:nvSpPr>
        <p:spPr>
          <a:xfrm>
            <a:off x="602358" y="2060848"/>
            <a:ext cx="7939284" cy="1295234"/>
          </a:xfrm>
          <a:prstGeom prst="rect">
            <a:avLst/>
          </a:prstGeom>
        </p:spPr>
        <p:txBody>
          <a:bodyPr lIns="93600" rIns="9360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ja-JP" sz="440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Approach</a:t>
            </a:r>
            <a:endParaRPr lang="ja-JP" altLang="en-US" sz="3600" kern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AFC3A-968B-A110-90DB-2EA078F0DD57}"/>
              </a:ext>
            </a:extLst>
          </p:cNvPr>
          <p:cNvSpPr txBox="1"/>
          <p:nvPr/>
        </p:nvSpPr>
        <p:spPr>
          <a:xfrm>
            <a:off x="1043608" y="3429000"/>
            <a:ext cx="72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3600" b="0" dirty="0"/>
              <a:t>Coherent hardware-software protection</a:t>
            </a:r>
          </a:p>
        </p:txBody>
      </p:sp>
    </p:spTree>
    <p:extLst>
      <p:ext uri="{BB962C8B-B14F-4D97-AF65-F5344CB8AC3E}">
        <p14:creationId xmlns:p14="http://schemas.microsoft.com/office/powerpoint/2010/main" val="943740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A473-D97D-CA91-0C17-63EBC52F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Proposal: Coherent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7E396-FD71-0CA7-77CC-A049EAA57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b="0" dirty="0"/>
              <a:t>Hardware-assisted protection must be coherent with the one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F9A1B-1955-FAA5-FBC6-7105FEF32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95197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1E29D-5247-B0B1-01C0-887C73B6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9C5C3-5B32-A2CD-E9DA-E8C8BC12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Trusted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3E66-8235-1E11-3D7B-1A73322EB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96975"/>
            <a:ext cx="7990656" cy="1223913"/>
          </a:xfrm>
        </p:spPr>
        <p:txBody>
          <a:bodyPr/>
          <a:lstStyle/>
          <a:p>
            <a:pPr marL="0" indent="0">
              <a:buNone/>
            </a:pPr>
            <a:r>
              <a:rPr lang="en-KR" b="0" dirty="0"/>
              <a:t>Re-establish trust in </a:t>
            </a:r>
            <a:r>
              <a:rPr lang="en-US" b="0" dirty="0"/>
              <a:t>the </a:t>
            </a:r>
            <a:r>
              <a:rPr lang="en-KR" b="0" dirty="0"/>
              <a:t>cloud through  software/hardware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A8A40-4DB8-3242-54C3-84A10CEA4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28</a:t>
            </a:fld>
            <a:endParaRPr lang="en-US" altLang="ja-JP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04F51-F944-6DCE-FA85-2E29CA8DEA5A}"/>
              </a:ext>
            </a:extLst>
          </p:cNvPr>
          <p:cNvSpPr/>
          <p:nvPr/>
        </p:nvSpPr>
        <p:spPr bwMode="auto">
          <a:xfrm>
            <a:off x="5371272" y="4214678"/>
            <a:ext cx="2880320" cy="718247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/>
              <a:t>Privilege software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D90E3-D8B7-7681-61CE-99EBBEDFA355}"/>
              </a:ext>
            </a:extLst>
          </p:cNvPr>
          <p:cNvSpPr/>
          <p:nvPr/>
        </p:nvSpPr>
        <p:spPr bwMode="auto">
          <a:xfrm>
            <a:off x="4435168" y="2705868"/>
            <a:ext cx="1656184" cy="768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800" dirty="0"/>
              <a:t>Sensitive Computation</a:t>
            </a:r>
            <a:endParaRPr kumimoji="0" lang="en-KR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EF7A7-D762-130D-964D-045AAA8930AF}"/>
              </a:ext>
            </a:extLst>
          </p:cNvPr>
          <p:cNvSpPr/>
          <p:nvPr/>
        </p:nvSpPr>
        <p:spPr bwMode="auto">
          <a:xfrm>
            <a:off x="6811432" y="2733177"/>
            <a:ext cx="1296144" cy="768099"/>
          </a:xfrm>
          <a:prstGeom prst="rect">
            <a:avLst/>
          </a:prstGeom>
          <a:solidFill>
            <a:schemeClr val="accent5">
              <a:lumMod val="9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800" dirty="0"/>
              <a:t>Malicious App</a:t>
            </a:r>
            <a:endParaRPr kumimoji="0" lang="en-KR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D1FFEEBF-5637-7A5F-BA01-B3E194B3625C}"/>
              </a:ext>
            </a:extLst>
          </p:cNvPr>
          <p:cNvSpPr/>
          <p:nvPr/>
        </p:nvSpPr>
        <p:spPr bwMode="auto">
          <a:xfrm>
            <a:off x="5839324" y="3538278"/>
            <a:ext cx="1944216" cy="543691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system calls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C119CB8-697C-D081-5FF7-C35152B05A28}"/>
              </a:ext>
            </a:extLst>
          </p:cNvPr>
          <p:cNvSpPr>
            <a:spLocks/>
          </p:cNvSpPr>
          <p:nvPr/>
        </p:nvSpPr>
        <p:spPr bwMode="auto">
          <a:xfrm rot="10800000">
            <a:off x="6190243" y="2658686"/>
            <a:ext cx="477213" cy="917079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rgbClr val="FF0000"/>
                </a:solidFill>
                <a:latin typeface="Arial" pitchFamily="34" charset="0"/>
              </a:rPr>
              <a:t>X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53CEF83E-203A-685D-E794-61BC603D902C}"/>
              </a:ext>
            </a:extLst>
          </p:cNvPr>
          <p:cNvSpPr>
            <a:spLocks/>
          </p:cNvSpPr>
          <p:nvPr/>
        </p:nvSpPr>
        <p:spPr bwMode="auto">
          <a:xfrm rot="5400000">
            <a:off x="7422098" y="3605376"/>
            <a:ext cx="997740" cy="505203"/>
          </a:xfrm>
          <a:prstGeom prst="rightArrow">
            <a:avLst/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783AF8-5AA7-3E71-49F2-C2260D784A79}"/>
              </a:ext>
            </a:extLst>
          </p:cNvPr>
          <p:cNvSpPr/>
          <p:nvPr/>
        </p:nvSpPr>
        <p:spPr bwMode="auto">
          <a:xfrm>
            <a:off x="6163280" y="5140389"/>
            <a:ext cx="1296224" cy="76809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/>
              <a:t>Root of trust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5C42AAC2-FB16-E68F-CA7F-B3E0A536CACA}"/>
              </a:ext>
            </a:extLst>
          </p:cNvPr>
          <p:cNvSpPr>
            <a:spLocks/>
          </p:cNvSpPr>
          <p:nvPr/>
        </p:nvSpPr>
        <p:spPr bwMode="auto">
          <a:xfrm rot="16200000">
            <a:off x="5093099" y="3471797"/>
            <a:ext cx="818570" cy="917079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dirty="0">
                <a:solidFill>
                  <a:srgbClr val="FF0000"/>
                </a:solidFill>
                <a:latin typeface="Arial" pitchFamily="34" charset="0"/>
              </a:rPr>
              <a:t>X</a:t>
            </a:r>
            <a:endParaRPr kumimoji="0" lang="en-KR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</a:endParaRPr>
          </a:p>
        </p:txBody>
      </p:sp>
      <p:pic>
        <p:nvPicPr>
          <p:cNvPr id="38916" name="Picture 4" descr="Users group - Free people icons">
            <a:extLst>
              <a:ext uri="{FF2B5EF4-FFF2-40B4-BE49-F238E27FC236}">
                <a16:creationId xmlns:a16="http://schemas.microsoft.com/office/drawing/2014/main" id="{7AE7E280-F645-41DC-4902-8217B0411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12" y="3605358"/>
            <a:ext cx="1118821" cy="111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FE5321A-079C-B086-AD12-6D414874D2E9}"/>
              </a:ext>
            </a:extLst>
          </p:cNvPr>
          <p:cNvSpPr txBox="1"/>
          <p:nvPr/>
        </p:nvSpPr>
        <p:spPr>
          <a:xfrm>
            <a:off x="3572523" y="3666470"/>
            <a:ext cx="1455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dirty="0">
                <a:solidFill>
                  <a:schemeClr val="accent2">
                    <a:lumMod val="75000"/>
                  </a:schemeClr>
                </a:solidFill>
              </a:rPr>
              <a:t>Runtime Isolation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4DFEBD2-A1FA-F7F6-A184-1667F24DC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475" y="4571107"/>
            <a:ext cx="518859" cy="5188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FC808C-D936-109C-3E42-55460E6CA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135" y="3086149"/>
            <a:ext cx="518859" cy="518859"/>
          </a:xfrm>
          <a:prstGeom prst="rect">
            <a:avLst/>
          </a:prstGeom>
        </p:spPr>
      </p:pic>
      <p:sp>
        <p:nvSpPr>
          <p:cNvPr id="30" name="Left-Right Arrow 29">
            <a:extLst>
              <a:ext uri="{FF2B5EF4-FFF2-40B4-BE49-F238E27FC236}">
                <a16:creationId xmlns:a16="http://schemas.microsoft.com/office/drawing/2014/main" id="{24E8520C-0671-279E-CFC0-CCEE53D02EE1}"/>
              </a:ext>
            </a:extLst>
          </p:cNvPr>
          <p:cNvSpPr/>
          <p:nvPr/>
        </p:nvSpPr>
        <p:spPr bwMode="auto">
          <a:xfrm rot="357082">
            <a:off x="2383417" y="5185167"/>
            <a:ext cx="3715971" cy="543691"/>
          </a:xfrm>
          <a:prstGeom prst="left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KR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</a:rPr>
              <a:t>Trust establishment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A6AE24-761F-0171-AF45-AE6602F66BBF}"/>
              </a:ext>
            </a:extLst>
          </p:cNvPr>
          <p:cNvSpPr txBox="1"/>
          <p:nvPr/>
        </p:nvSpPr>
        <p:spPr>
          <a:xfrm>
            <a:off x="464554" y="4702092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Cloud Users</a:t>
            </a:r>
          </a:p>
        </p:txBody>
      </p:sp>
      <p:sp>
        <p:nvSpPr>
          <p:cNvPr id="44" name="Right Arrow 43">
            <a:extLst>
              <a:ext uri="{FF2B5EF4-FFF2-40B4-BE49-F238E27FC236}">
                <a16:creationId xmlns:a16="http://schemas.microsoft.com/office/drawing/2014/main" id="{2731489F-F35A-46D0-93CC-2800A51EA439}"/>
              </a:ext>
            </a:extLst>
          </p:cNvPr>
          <p:cNvSpPr>
            <a:spLocks/>
          </p:cNvSpPr>
          <p:nvPr/>
        </p:nvSpPr>
        <p:spPr bwMode="auto">
          <a:xfrm rot="20659720">
            <a:off x="2215266" y="3001683"/>
            <a:ext cx="2156577" cy="6725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KR" sz="1600" b="0" dirty="0">
                <a:solidFill>
                  <a:schemeClr val="tx1"/>
                </a:solidFill>
                <a:latin typeface="Arial" pitchFamily="34" charset="0"/>
              </a:rPr>
              <a:t>deploy</a:t>
            </a:r>
            <a:endParaRPr kumimoji="0" lang="en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42B363C-CC04-3B3C-EAA0-117BF08C3ADF}"/>
              </a:ext>
            </a:extLst>
          </p:cNvPr>
          <p:cNvSpPr/>
          <p:nvPr/>
        </p:nvSpPr>
        <p:spPr bwMode="auto">
          <a:xfrm>
            <a:off x="4121718" y="4320236"/>
            <a:ext cx="6675572" cy="2674204"/>
          </a:xfrm>
          <a:prstGeom prst="rect">
            <a:avLst/>
          </a:prstGeom>
          <a:solidFill>
            <a:schemeClr val="bg1"/>
          </a:solidFill>
          <a:ln w="508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KR" sz="3200" dirty="0"/>
              <a:t>It is time to rethink the OS’s role </a:t>
            </a:r>
            <a:r>
              <a:rPr lang="en-US" sz="3200" dirty="0"/>
              <a:t>in</a:t>
            </a:r>
            <a:r>
              <a:rPr lang="en-KR" sz="3200" dirty="0"/>
              <a:t> protection</a:t>
            </a:r>
            <a:endParaRPr kumimoji="0" lang="en-KR" sz="32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92676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9" grpId="0" animBg="1"/>
      <p:bldP spid="21" grpId="0"/>
      <p:bldP spid="30" grpId="0" animBg="1"/>
      <p:bldP spid="4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E85C-F318-396F-AA81-75470BBC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EACC6-99D7-3D0A-60C2-3B3008D40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29</a:t>
            </a:fld>
            <a:endParaRPr lang="en-US" altLang="ja-JP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83B113-20D5-AD57-A1AB-09027B12F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9144000" cy="5032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 dirty="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4B78F60-7949-F6CD-0654-F686B83A6D67}"/>
              </a:ext>
            </a:extLst>
          </p:cNvPr>
          <p:cNvSpPr txBox="1">
            <a:spLocks noChangeArrowheads="1"/>
          </p:cNvSpPr>
          <p:nvPr/>
        </p:nvSpPr>
        <p:spPr>
          <a:xfrm>
            <a:off x="602358" y="2060848"/>
            <a:ext cx="7939284" cy="1295234"/>
          </a:xfrm>
          <a:prstGeom prst="rect">
            <a:avLst/>
          </a:prstGeom>
        </p:spPr>
        <p:txBody>
          <a:bodyPr lIns="93600" rIns="93600"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ja-JP" sz="4400" kern="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</a:t>
            </a:r>
            <a:endParaRPr lang="ja-JP" altLang="en-US" sz="3600" kern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73FBB-156F-B87B-0344-FBACEC0DF812}"/>
              </a:ext>
            </a:extLst>
          </p:cNvPr>
          <p:cNvSpPr txBox="1"/>
          <p:nvPr/>
        </p:nvSpPr>
        <p:spPr>
          <a:xfrm>
            <a:off x="1043608" y="3429000"/>
            <a:ext cx="72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R" sz="3600" b="0" dirty="0"/>
              <a:t>OS Protection in the Modern World</a:t>
            </a:r>
          </a:p>
        </p:txBody>
      </p:sp>
    </p:spTree>
    <p:extLst>
      <p:ext uri="{BB962C8B-B14F-4D97-AF65-F5344CB8AC3E}">
        <p14:creationId xmlns:p14="http://schemas.microsoft.com/office/powerpoint/2010/main" val="1306160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15ABE-EC62-F8AB-B573-CE1BE503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6107-A4A3-C414-7085-0A13E19E7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A0ECB-EC0F-649A-3B06-9E858E85BD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85148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88CA8-2E68-A066-3E5F-A452DDD6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0660-ED6D-EB68-2673-EDF47457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A95B0-3D0F-3F1A-AAB1-E79466984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Operating Systems underpins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C78F4-87A0-4D56-D0FD-B8F22EBE54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31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76112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9958-8F1A-AA7B-063F-27408ED9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7AD3E-E386-3CEA-8C13-A872B3571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4591A-2177-6625-77B6-06243B121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B0715-B72E-9147-AC7E-39DCCCD0D146}" type="slidenum">
              <a:rPr lang="ja-JP" altLang="en-US" smtClean="0"/>
              <a:pPr/>
              <a:t>32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028096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3">
            <a:extLst>
              <a:ext uri="{FF2B5EF4-FFF2-40B4-BE49-F238E27FC236}">
                <a16:creationId xmlns:a16="http://schemas.microsoft.com/office/drawing/2014/main" id="{2BB20192-A398-D1D9-E2F5-280D080C44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2F871B-2AB3-C64B-ABD6-A03E39770974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ja-JP" sz="1800" b="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D890590-6B69-7ED8-B1A6-2557890CC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Background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E0844C9-9606-D6D4-134C-2F997828A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208962" cy="4535487"/>
          </a:xfrm>
        </p:spPr>
        <p:txBody>
          <a:bodyPr/>
          <a:lstStyle/>
          <a:p>
            <a:pPr lvl="1">
              <a:buFontTx/>
              <a:buNone/>
            </a:pPr>
            <a:endParaRPr lang="en-CA" altLang="ja-JP" sz="10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ja-JP" sz="28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Please prepare the PPT slides for 10 minutes presentation.</a:t>
            </a:r>
          </a:p>
          <a:p>
            <a:pPr>
              <a:lnSpc>
                <a:spcPct val="90000"/>
              </a:lnSpc>
            </a:pPr>
            <a:r>
              <a:rPr lang="en-US" altLang="ja-JP" sz="28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PPT slides must include </a:t>
            </a:r>
            <a:r>
              <a:rPr lang="en-US" altLang="ja-JP" sz="24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Outline, Introduction or Background(or Related works), his own works and conclusion</a:t>
            </a:r>
          </a:p>
          <a:p>
            <a:pPr>
              <a:lnSpc>
                <a:spcPct val="90000"/>
              </a:lnSpc>
            </a:pPr>
            <a:endParaRPr lang="en-US" altLang="ja-JP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90000"/>
              </a:lnSpc>
            </a:pPr>
            <a:endParaRPr lang="en-US" altLang="ja-JP" sz="2400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>
            <a:extLst>
              <a:ext uri="{FF2B5EF4-FFF2-40B4-BE49-F238E27FC236}">
                <a16:creationId xmlns:a16="http://schemas.microsoft.com/office/drawing/2014/main" id="{1D1A2FCF-044C-4DBB-E28D-350DDA962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8E9A77-024F-F24E-8015-F2E6060EE55D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ja-JP" sz="1800" b="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AAE9878-BB27-D639-6EAE-FCC09A03E2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Page setup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FBF9724-58E0-BA28-590B-B23BCC021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713788" cy="4968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Take 5mm for top, bottom, right and left margins.</a:t>
            </a:r>
          </a:p>
          <a:p>
            <a:pPr>
              <a:lnSpc>
                <a:spcPct val="80000"/>
              </a:lnSpc>
            </a:pPr>
            <a:endParaRPr lang="en-US" altLang="ja-JP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All pages should be in horizontal (landscape) format, not vertical.</a:t>
            </a:r>
          </a:p>
          <a:p>
            <a:pPr>
              <a:lnSpc>
                <a:spcPct val="80000"/>
              </a:lnSpc>
            </a:pPr>
            <a:endParaRPr lang="en-US" altLang="ja-JP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No logos are permitted except on the title page.</a:t>
            </a:r>
          </a:p>
          <a:p>
            <a:pPr>
              <a:lnSpc>
                <a:spcPct val="80000"/>
              </a:lnSpc>
            </a:pPr>
            <a:endParaRPr lang="en-US" altLang="ja-JP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80000"/>
              </a:lnSpc>
            </a:pPr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Put page number in the bottom center.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3">
            <a:extLst>
              <a:ext uri="{FF2B5EF4-FFF2-40B4-BE49-F238E27FC236}">
                <a16:creationId xmlns:a16="http://schemas.microsoft.com/office/drawing/2014/main" id="{1DC3EAD6-AD8B-2480-D735-F507517A6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EB241B-2FA2-FF4D-9660-640280762DF9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ja-JP" sz="1800" b="0" dirty="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090435A-B203-2AE6-0DFA-F4D58F852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Fonts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804F1EA-2194-8A71-C145-AC1052845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70000"/>
            <a:ext cx="8424862" cy="4895850"/>
          </a:xfrm>
        </p:spPr>
        <p:txBody>
          <a:bodyPr/>
          <a:lstStyle/>
          <a:p>
            <a:r>
              <a:rPr lang="en-US" altLang="ja-JP" sz="28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 </a:t>
            </a:r>
            <a:r>
              <a:rPr lang="en-US" altLang="ja-JP" sz="2800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Arial or Helvetica font in bold type</a:t>
            </a:r>
            <a:r>
              <a:rPr lang="en-US" altLang="ja-JP" sz="28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lvl="1"/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 sans-serif fonts. Don’t use serif fonts, which project poorly. ex. </a:t>
            </a:r>
            <a:r>
              <a:rPr lang="en-US" altLang="ja-JP" dirty="0">
                <a:latin typeface="Times New Roman" panose="020206030504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Times New Roman, </a:t>
            </a:r>
            <a:r>
              <a:rPr lang="en-US" altLang="ja-JP" dirty="0">
                <a:latin typeface="Century" panose="02040604050505020304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Century.</a:t>
            </a:r>
          </a:p>
          <a:p>
            <a:pPr lvl="1"/>
            <a:r>
              <a:rPr lang="en-US" altLang="ja-JP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Use 24 points or larger.</a:t>
            </a:r>
            <a:endParaRPr lang="ja-JP" altLang="en-US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1"/>
            <a:r>
              <a:rPr lang="en-US" altLang="ja-JP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Anything less than 20 points is too small (e.g. 18 point).</a:t>
            </a:r>
          </a:p>
          <a:p>
            <a:pPr lvl="1"/>
            <a:r>
              <a:rPr lang="en-US" altLang="ja-JP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Think about the audience watching your presentation from the back of a large ballroom.</a:t>
            </a:r>
          </a:p>
          <a:p>
            <a:r>
              <a:rPr lang="en-US" altLang="ja-JP" sz="28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You have to be innovative to limit and reconfigure the contents of a slide to increase the font size.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3">
            <a:extLst>
              <a:ext uri="{FF2B5EF4-FFF2-40B4-BE49-F238E27FC236}">
                <a16:creationId xmlns:a16="http://schemas.microsoft.com/office/drawing/2014/main" id="{4472208E-25BF-F91A-E9D5-06AD78377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4B3B98-C557-5948-B2F4-53BB130D3088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ja-JP" sz="1800" b="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DCC4C47-168E-9DD8-D4AE-2BE4B98CD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Colors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91CB064-A2B1-3E1E-6122-938FF557D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373188"/>
            <a:ext cx="8785225" cy="464820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en-CA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All backgrounds must be </a:t>
            </a:r>
            <a:r>
              <a:rPr lang="en-CA" altLang="ja-JP" sz="2800" u="sng">
                <a:ea typeface="Arial Unicode MS" panose="020B0604020202020204" pitchFamily="34" charset="-128"/>
                <a:cs typeface="Arial Unicode MS" panose="020B0604020202020204" pitchFamily="34" charset="-128"/>
              </a:rPr>
              <a:t>white with no pattern. </a:t>
            </a:r>
            <a:r>
              <a:rPr lang="en-CA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Basically text must be in </a:t>
            </a:r>
            <a:r>
              <a:rPr lang="en-CA" altLang="ja-JP" sz="2800" u="sng">
                <a:ea typeface="Arial Unicode MS" panose="020B0604020202020204" pitchFamily="34" charset="-128"/>
                <a:cs typeface="Arial Unicode MS" panose="020B0604020202020204" pitchFamily="34" charset="-128"/>
              </a:rPr>
              <a:t>black</a:t>
            </a:r>
            <a:r>
              <a:rPr lang="en-CA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</a:p>
          <a:p>
            <a:pPr marL="609600" indent="-609600">
              <a:lnSpc>
                <a:spcPct val="90000"/>
              </a:lnSpc>
            </a:pPr>
            <a:endParaRPr lang="en-CA" altLang="ja-JP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609600" indent="-609600">
              <a:lnSpc>
                <a:spcPct val="90000"/>
              </a:lnSpc>
            </a:pPr>
            <a:r>
              <a:rPr lang="en-CA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Color may be used only when it adds clarity of the presentation.</a:t>
            </a:r>
          </a:p>
          <a:p>
            <a:pPr marL="609600" indent="-609600">
              <a:lnSpc>
                <a:spcPct val="90000"/>
              </a:lnSpc>
            </a:pPr>
            <a:endParaRPr lang="en-CA" altLang="ja-JP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609600" indent="-609600">
              <a:lnSpc>
                <a:spcPct val="90000"/>
              </a:lnSpc>
            </a:pPr>
            <a:r>
              <a:rPr lang="en-CA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Use colors with good contrast. </a:t>
            </a:r>
          </a:p>
          <a:p>
            <a:pPr marL="990600" lvl="1" indent="-533400">
              <a:lnSpc>
                <a:spcPct val="90000"/>
              </a:lnSpc>
            </a:pPr>
            <a:r>
              <a:rPr lang="en-CA" altLang="ja-JP">
                <a:solidFill>
                  <a:schemeClr val="hlink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Reds</a:t>
            </a:r>
            <a:r>
              <a:rPr lang="en-CA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 and </a:t>
            </a:r>
            <a:r>
              <a:rPr lang="en-CA" altLang="ja-JP">
                <a:solidFill>
                  <a:schemeClr val="accent2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blues</a:t>
            </a:r>
            <a:r>
              <a:rPr lang="en-CA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 are OK.  Avoid </a:t>
            </a:r>
            <a:r>
              <a:rPr lang="en-CA" altLang="ja-JP">
                <a:solidFill>
                  <a:srgbClr val="FFFF00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yellows</a:t>
            </a:r>
            <a:r>
              <a:rPr lang="en-CA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 and </a:t>
            </a:r>
            <a:r>
              <a:rPr lang="en-CA" altLang="ja-JP">
                <a:solidFill>
                  <a:srgbClr val="00FF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light colors</a:t>
            </a:r>
            <a:r>
              <a:rPr lang="en-CA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, except as a local background in a boxed area. 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3">
            <a:extLst>
              <a:ext uri="{FF2B5EF4-FFF2-40B4-BE49-F238E27FC236}">
                <a16:creationId xmlns:a16="http://schemas.microsoft.com/office/drawing/2014/main" id="{C64DCF18-96C4-B4E3-9CFA-2E26E77A0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D477D4-F472-6E48-8DC3-8FA5A8270641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ja-JP" sz="1800" b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8BCE316-C87A-E8DD-262B-7371386B0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Example: color and font choices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6CEAF6BC-E4F9-CB07-19F7-018B5635D3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0" y="3716338"/>
            <a:ext cx="3600450" cy="1219200"/>
          </a:xfrm>
          <a:solidFill>
            <a:schemeClr val="accent2"/>
          </a:solidFill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This combination will be impossible to see - no contrast.</a:t>
            </a:r>
          </a:p>
        </p:txBody>
      </p:sp>
      <p:sp>
        <p:nvSpPr>
          <p:cNvPr id="10245" name="Rectangle 10">
            <a:extLst>
              <a:ext uri="{FF2B5EF4-FFF2-40B4-BE49-F238E27FC236}">
                <a16:creationId xmlns:a16="http://schemas.microsoft.com/office/drawing/2014/main" id="{A2795B7F-3B4B-DC6B-79F0-8E21A4C5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339850"/>
            <a:ext cx="4103688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This text is clear and standard </a:t>
            </a:r>
            <a:r>
              <a:rPr lang="en-US" altLang="ja-JP" b="0">
                <a:solidFill>
                  <a:schemeClr val="hlink"/>
                </a:solidFill>
                <a:latin typeface="Arial Narrow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but if your font is too thin, it won’t be visible.</a:t>
            </a:r>
            <a:r>
              <a:rPr lang="en-US" altLang="ja-JP" b="0">
                <a:latin typeface="Arial Narrow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sp>
        <p:nvSpPr>
          <p:cNvPr id="10246" name="Text Box 11">
            <a:extLst>
              <a:ext uri="{FF2B5EF4-FFF2-40B4-BE49-F238E27FC236}">
                <a16:creationId xmlns:a16="http://schemas.microsoft.com/office/drawing/2014/main" id="{C39BF29C-A669-AA0B-3410-653C6B21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341438"/>
            <a:ext cx="3671888" cy="8223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solidFill>
                  <a:schemeClr val="tx2"/>
                </a:solidFill>
                <a:ea typeface="MS PGothic" panose="020B0600070205080204" pitchFamily="34" charset="-128"/>
              </a:rPr>
              <a:t>This combination has good contrast.</a:t>
            </a:r>
          </a:p>
        </p:txBody>
      </p:sp>
      <p:sp>
        <p:nvSpPr>
          <p:cNvPr id="10247" name="Rectangle 12">
            <a:extLst>
              <a:ext uri="{FF2B5EF4-FFF2-40B4-BE49-F238E27FC236}">
                <a16:creationId xmlns:a16="http://schemas.microsoft.com/office/drawing/2014/main" id="{DDDE1A38-F2BD-CD19-F09B-828AE3A53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221163"/>
            <a:ext cx="33115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ja-JP" sz="1800">
                <a:ea typeface="Arial Unicode MS" panose="020B0604020202020204" pitchFamily="34" charset="-128"/>
                <a:cs typeface="Arial Unicode MS" panose="020B0604020202020204" pitchFamily="34" charset="-128"/>
              </a:rPr>
              <a:t>This 18-points text is too small.</a:t>
            </a:r>
            <a:r>
              <a:rPr lang="en-US" altLang="ja-JP" sz="1800" b="0">
                <a:latin typeface="Arial Narrow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</a:p>
        </p:txBody>
      </p:sp>
      <p:sp>
        <p:nvSpPr>
          <p:cNvPr id="10248" name="Text Box 14">
            <a:extLst>
              <a:ext uri="{FF2B5EF4-FFF2-40B4-BE49-F238E27FC236}">
                <a16:creationId xmlns:a16="http://schemas.microsoft.com/office/drawing/2014/main" id="{13989E12-5DFF-2255-D85A-427391FA9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084763"/>
            <a:ext cx="3671888" cy="1187450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ja-JP" sz="2400">
                <a:solidFill>
                  <a:schemeClr val="hlink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This combination is not suitable for color-vision deficient people.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3">
            <a:extLst>
              <a:ext uri="{FF2B5EF4-FFF2-40B4-BE49-F238E27FC236}">
                <a16:creationId xmlns:a16="http://schemas.microsoft.com/office/drawing/2014/main" id="{48CFFDC3-1D57-CC22-AEC9-9E826B6883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00C236-9EEC-ED45-AA51-43A9CDBF6481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ja-JP" sz="1800" b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15BA396-47EA-192F-30CA-32821F6E4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General guideline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31EC4BA-A34C-B4AA-B6B7-16115B04E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640763" cy="4648200"/>
          </a:xfrm>
        </p:spPr>
        <p:txBody>
          <a:bodyPr/>
          <a:lstStyle/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Keep concepts as simple as possible.</a:t>
            </a: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Limit each page to one main idea.</a:t>
            </a: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Use several simple figures rather than one complex one.</a:t>
            </a: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Make duplicate copies of a page if you plan to refer to it more than once.</a:t>
            </a:r>
          </a:p>
          <a:p>
            <a:pPr lvl="1"/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Do not plan to go back to a slide.</a:t>
            </a: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Rehearse your talk aloud</a:t>
            </a:r>
            <a:r>
              <a:rPr lang="ja-JP" altLang="en-US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in front of colleagues.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3">
            <a:extLst>
              <a:ext uri="{FF2B5EF4-FFF2-40B4-BE49-F238E27FC236}">
                <a16:creationId xmlns:a16="http://schemas.microsoft.com/office/drawing/2014/main" id="{A777BE8D-25CD-09BA-1C47-9C64AC396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E36801-DD6B-AB43-AC3A-C9FEFC2F4EB9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ja-JP" sz="1800" b="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5B06BDE-CB83-446E-E054-9495ED3AE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Text slides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4BDE1E4F-00F3-E0BC-8713-DFAD3142F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924800" cy="4648200"/>
          </a:xfrm>
        </p:spPr>
        <p:txBody>
          <a:bodyPr/>
          <a:lstStyle/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Don’t use a lengthy sentence. Use a short phrase and a simple sentence.</a:t>
            </a:r>
          </a:p>
          <a:p>
            <a:pPr lvl="1"/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Explain with sentences verbally but don’t write the sentences on a slide.</a:t>
            </a:r>
          </a:p>
          <a:p>
            <a:pPr lvl="1"/>
            <a:endParaRPr lang="en-US" altLang="ja-JP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If possible, use no more than 8 lines of text per page.</a:t>
            </a:r>
          </a:p>
          <a:p>
            <a:endParaRPr lang="ja-JP" altLang="en-US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3">
            <a:extLst>
              <a:ext uri="{FF2B5EF4-FFF2-40B4-BE49-F238E27FC236}">
                <a16:creationId xmlns:a16="http://schemas.microsoft.com/office/drawing/2014/main" id="{5A417BE8-5B09-6D3A-75D9-9323FDCDD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7F7927-9DF7-1541-80E2-4AFAF7F67C95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ja-JP" sz="1800" b="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4F8D7C7-05D7-9C88-E3E1-49F7EFB29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Graphs and figures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CE4A1DE-9A50-AC5E-16D3-1948FE8D1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918450" cy="4648200"/>
          </a:xfrm>
        </p:spPr>
        <p:txBody>
          <a:bodyPr/>
          <a:lstStyle/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Use a minimum line width of 2 points for all lines in drawings.</a:t>
            </a:r>
          </a:p>
          <a:p>
            <a:endParaRPr lang="en-US" altLang="ja-JP" sz="28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Fonts embedded in figures should also comply with a guideline for text.</a:t>
            </a:r>
          </a:p>
          <a:p>
            <a:pPr lvl="1"/>
            <a:endParaRPr lang="en-US" altLang="ja-JP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Often, graphical data imported from other programs will have small fonts &amp; thin lines.</a:t>
            </a:r>
          </a:p>
          <a:p>
            <a:pPr lvl="1"/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Completely redraw if you can’t fix this.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3">
            <a:extLst>
              <a:ext uri="{FF2B5EF4-FFF2-40B4-BE49-F238E27FC236}">
                <a16:creationId xmlns:a16="http://schemas.microsoft.com/office/drawing/2014/main" id="{D76CC3C8-4832-0725-0805-1EE856DAE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9340F6-45F2-2047-B733-8BF225ADEE7E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ja-JP" sz="1800" b="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9F5096A-37FC-C628-6B4B-2A7EFFC9A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Example of a good figure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675A5AF6-2B89-9EBC-9E91-0EC9E63F2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848600" cy="4648200"/>
          </a:xfrm>
        </p:spPr>
        <p:txBody>
          <a:bodyPr/>
          <a:lstStyle/>
          <a:p>
            <a:r>
              <a:rPr lang="en-US" altLang="ja-JP" sz="2800">
                <a:ea typeface="Arial Unicode MS" panose="020B0604020202020204" pitchFamily="34" charset="-128"/>
                <a:cs typeface="Arial Unicode MS" panose="020B0604020202020204" pitchFamily="34" charset="-128"/>
              </a:rPr>
              <a:t>Simple graph, thick, bold axes, large fonts</a:t>
            </a:r>
          </a:p>
        </p:txBody>
      </p:sp>
      <p:sp>
        <p:nvSpPr>
          <p:cNvPr id="14341" name="Rectangle 8">
            <a:extLst>
              <a:ext uri="{FF2B5EF4-FFF2-40B4-BE49-F238E27FC236}">
                <a16:creationId xmlns:a16="http://schemas.microsoft.com/office/drawing/2014/main" id="{A9219636-2984-1AE2-410E-E5D09BAF0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2238375"/>
            <a:ext cx="4143375" cy="28956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42" name="Rectangle 9">
            <a:extLst>
              <a:ext uri="{FF2B5EF4-FFF2-40B4-BE49-F238E27FC236}">
                <a16:creationId xmlns:a16="http://schemas.microsoft.com/office/drawing/2014/main" id="{536A3AA2-E26E-A268-9958-9CF3D9E13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2238375"/>
            <a:ext cx="4143375" cy="2895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43" name="Line 10">
            <a:extLst>
              <a:ext uri="{FF2B5EF4-FFF2-40B4-BE49-F238E27FC236}">
                <a16:creationId xmlns:a16="http://schemas.microsoft.com/office/drawing/2014/main" id="{4C1D46AE-40AE-3F4C-1E00-6E7E99342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7975" y="2238375"/>
            <a:ext cx="1588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KR"/>
          </a:p>
        </p:txBody>
      </p:sp>
      <p:grpSp>
        <p:nvGrpSpPr>
          <p:cNvPr id="14344" name="Group 130">
            <a:extLst>
              <a:ext uri="{FF2B5EF4-FFF2-40B4-BE49-F238E27FC236}">
                <a16:creationId xmlns:a16="http://schemas.microsoft.com/office/drawing/2014/main" id="{64BBE2FD-4734-3616-7CF7-28C058BB092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859088" y="2238375"/>
            <a:ext cx="95250" cy="2897188"/>
            <a:chOff x="1734" y="1410"/>
            <a:chExt cx="60" cy="1825"/>
          </a:xfrm>
        </p:grpSpPr>
        <p:sp>
          <p:nvSpPr>
            <p:cNvPr id="14463" name="Line 11">
              <a:extLst>
                <a:ext uri="{FF2B5EF4-FFF2-40B4-BE49-F238E27FC236}">
                  <a16:creationId xmlns:a16="http://schemas.microsoft.com/office/drawing/2014/main" id="{E3CF1944-333A-ECCA-A28A-0232E64A10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234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4" name="Line 12">
              <a:extLst>
                <a:ext uri="{FF2B5EF4-FFF2-40B4-BE49-F238E27FC236}">
                  <a16:creationId xmlns:a16="http://schemas.microsoft.com/office/drawing/2014/main" id="{7D7BE6B4-08BC-71F5-F633-3191639C5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114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5" name="Line 13">
              <a:extLst>
                <a:ext uri="{FF2B5EF4-FFF2-40B4-BE49-F238E27FC236}">
                  <a16:creationId xmlns:a16="http://schemas.microsoft.com/office/drawing/2014/main" id="{B0DCD85B-7191-DC38-AAE9-DDD6283EB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98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6" name="Line 14">
              <a:extLst>
                <a:ext uri="{FF2B5EF4-FFF2-40B4-BE49-F238E27FC236}">
                  <a16:creationId xmlns:a16="http://schemas.microsoft.com/office/drawing/2014/main" id="{5ECF1C94-3E97-E1B0-34BB-7093824CF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86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7" name="Line 15">
              <a:extLst>
                <a:ext uri="{FF2B5EF4-FFF2-40B4-BE49-F238E27FC236}">
                  <a16:creationId xmlns:a16="http://schemas.microsoft.com/office/drawing/2014/main" id="{2EBD13DD-BE84-225B-0AC5-B5638404F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74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8" name="Line 16">
              <a:extLst>
                <a:ext uri="{FF2B5EF4-FFF2-40B4-BE49-F238E27FC236}">
                  <a16:creationId xmlns:a16="http://schemas.microsoft.com/office/drawing/2014/main" id="{CABF4E43-7DAE-F552-B4BF-34EB9E1CA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62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9" name="Line 17">
              <a:extLst>
                <a:ext uri="{FF2B5EF4-FFF2-40B4-BE49-F238E27FC236}">
                  <a16:creationId xmlns:a16="http://schemas.microsoft.com/office/drawing/2014/main" id="{09291156-6CD0-BBEE-64A9-EB315EF489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50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0" name="Line 18">
              <a:extLst>
                <a:ext uri="{FF2B5EF4-FFF2-40B4-BE49-F238E27FC236}">
                  <a16:creationId xmlns:a16="http://schemas.microsoft.com/office/drawing/2014/main" id="{D5D85262-59EB-FAD3-E664-08627F33E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38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1" name="Line 19">
              <a:extLst>
                <a:ext uri="{FF2B5EF4-FFF2-40B4-BE49-F238E27FC236}">
                  <a16:creationId xmlns:a16="http://schemas.microsoft.com/office/drawing/2014/main" id="{40D065B0-32B0-0353-3DE4-D7268426A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26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2" name="Line 20">
              <a:extLst>
                <a:ext uri="{FF2B5EF4-FFF2-40B4-BE49-F238E27FC236}">
                  <a16:creationId xmlns:a16="http://schemas.microsoft.com/office/drawing/2014/main" id="{0ECF5433-0946-CE28-DB17-1E278D4FE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14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3" name="Line 21">
              <a:extLst>
                <a:ext uri="{FF2B5EF4-FFF2-40B4-BE49-F238E27FC236}">
                  <a16:creationId xmlns:a16="http://schemas.microsoft.com/office/drawing/2014/main" id="{87EB200E-2083-C79D-E895-1838B3D8D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01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4" name="Line 22">
              <a:extLst>
                <a:ext uri="{FF2B5EF4-FFF2-40B4-BE49-F238E27FC236}">
                  <a16:creationId xmlns:a16="http://schemas.microsoft.com/office/drawing/2014/main" id="{D10F3557-30DD-6C92-73BE-4C9766506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89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5" name="Line 23">
              <a:extLst>
                <a:ext uri="{FF2B5EF4-FFF2-40B4-BE49-F238E27FC236}">
                  <a16:creationId xmlns:a16="http://schemas.microsoft.com/office/drawing/2014/main" id="{FB94E190-E3FA-597F-B83F-FD60AB280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77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6" name="Line 24">
              <a:extLst>
                <a:ext uri="{FF2B5EF4-FFF2-40B4-BE49-F238E27FC236}">
                  <a16:creationId xmlns:a16="http://schemas.microsoft.com/office/drawing/2014/main" id="{2EFBABD0-7C06-4026-B795-4EB07889F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65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7" name="Line 25">
              <a:extLst>
                <a:ext uri="{FF2B5EF4-FFF2-40B4-BE49-F238E27FC236}">
                  <a16:creationId xmlns:a16="http://schemas.microsoft.com/office/drawing/2014/main" id="{B57ECD52-96CE-B000-094F-F9FE27789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530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8" name="Line 26">
              <a:extLst>
                <a:ext uri="{FF2B5EF4-FFF2-40B4-BE49-F238E27FC236}">
                  <a16:creationId xmlns:a16="http://schemas.microsoft.com/office/drawing/2014/main" id="{92BA71F6-E3A1-CF8E-A910-3D3E8AA70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410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79" name="Line 27">
              <a:extLst>
                <a:ext uri="{FF2B5EF4-FFF2-40B4-BE49-F238E27FC236}">
                  <a16:creationId xmlns:a16="http://schemas.microsoft.com/office/drawing/2014/main" id="{80DF0537-68EC-0D09-A080-1B0F96BBD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3234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80" name="Line 28">
              <a:extLst>
                <a:ext uri="{FF2B5EF4-FFF2-40B4-BE49-F238E27FC236}">
                  <a16:creationId xmlns:a16="http://schemas.microsoft.com/office/drawing/2014/main" id="{5B1E212A-B653-C955-346D-926B3404A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2628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81" name="Line 29">
              <a:extLst>
                <a:ext uri="{FF2B5EF4-FFF2-40B4-BE49-F238E27FC236}">
                  <a16:creationId xmlns:a16="http://schemas.microsoft.com/office/drawing/2014/main" id="{1CB13B83-C2A1-AD20-FFAD-E36DBC1904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2016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82" name="Line 30">
              <a:extLst>
                <a:ext uri="{FF2B5EF4-FFF2-40B4-BE49-F238E27FC236}">
                  <a16:creationId xmlns:a16="http://schemas.microsoft.com/office/drawing/2014/main" id="{476C9B5B-9E5B-F8F5-6685-C5E7112E7B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1410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14345" name="Line 31">
            <a:extLst>
              <a:ext uri="{FF2B5EF4-FFF2-40B4-BE49-F238E27FC236}">
                <a16:creationId xmlns:a16="http://schemas.microsoft.com/office/drawing/2014/main" id="{ACF5EDA6-847F-FEE5-B484-FB1D29A8A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7975" y="5133975"/>
            <a:ext cx="41433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KR"/>
          </a:p>
        </p:txBody>
      </p:sp>
      <p:grpSp>
        <p:nvGrpSpPr>
          <p:cNvPr id="14346" name="Group 122">
            <a:extLst>
              <a:ext uri="{FF2B5EF4-FFF2-40B4-BE49-F238E27FC236}">
                <a16:creationId xmlns:a16="http://schemas.microsoft.com/office/drawing/2014/main" id="{2EDFB158-C5E4-B3E0-7AAD-26495C520F6E}"/>
              </a:ext>
            </a:extLst>
          </p:cNvPr>
          <p:cNvGrpSpPr>
            <a:grpSpLocks/>
          </p:cNvGrpSpPr>
          <p:nvPr/>
        </p:nvGrpSpPr>
        <p:grpSpPr bwMode="auto">
          <a:xfrm>
            <a:off x="2847975" y="5024438"/>
            <a:ext cx="4144963" cy="95250"/>
            <a:chOff x="1794" y="3234"/>
            <a:chExt cx="2611" cy="60"/>
          </a:xfrm>
        </p:grpSpPr>
        <p:sp>
          <p:nvSpPr>
            <p:cNvPr id="14457" name="Line 32">
              <a:extLst>
                <a:ext uri="{FF2B5EF4-FFF2-40B4-BE49-F238E27FC236}">
                  <a16:creationId xmlns:a16="http://schemas.microsoft.com/office/drawing/2014/main" id="{71AD0228-BC5D-5099-9CBE-7D0D3B74D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4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8" name="Line 33">
              <a:extLst>
                <a:ext uri="{FF2B5EF4-FFF2-40B4-BE49-F238E27FC236}">
                  <a16:creationId xmlns:a16="http://schemas.microsoft.com/office/drawing/2014/main" id="{2ACA8D19-939D-E186-4E3B-47F3D37C9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6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9" name="Line 34">
              <a:extLst>
                <a:ext uri="{FF2B5EF4-FFF2-40B4-BE49-F238E27FC236}">
                  <a16:creationId xmlns:a16="http://schemas.microsoft.com/office/drawing/2014/main" id="{552B8ED1-14EF-0482-4FE1-DD0E06FA7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8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0" name="Line 35">
              <a:extLst>
                <a:ext uri="{FF2B5EF4-FFF2-40B4-BE49-F238E27FC236}">
                  <a16:creationId xmlns:a16="http://schemas.microsoft.com/office/drawing/2014/main" id="{00904A6E-9874-005C-DF6C-AF3545B66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1" name="Line 36">
              <a:extLst>
                <a:ext uri="{FF2B5EF4-FFF2-40B4-BE49-F238E27FC236}">
                  <a16:creationId xmlns:a16="http://schemas.microsoft.com/office/drawing/2014/main" id="{EC6B8190-18FE-99A6-C2FD-F67BBA193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2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62" name="Line 37">
              <a:extLst>
                <a:ext uri="{FF2B5EF4-FFF2-40B4-BE49-F238E27FC236}">
                  <a16:creationId xmlns:a16="http://schemas.microsoft.com/office/drawing/2014/main" id="{C9A26674-DAFD-DFFB-0E03-CF57C16D36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4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</p:grpSp>
      <p:sp>
        <p:nvSpPr>
          <p:cNvPr id="14347" name="Freeform 38">
            <a:extLst>
              <a:ext uri="{FF2B5EF4-FFF2-40B4-BE49-F238E27FC236}">
                <a16:creationId xmlns:a16="http://schemas.microsoft.com/office/drawing/2014/main" id="{8EF0C667-C5DB-B239-D973-6F1609053F5E}"/>
              </a:ext>
            </a:extLst>
          </p:cNvPr>
          <p:cNvSpPr>
            <a:spLocks/>
          </p:cNvSpPr>
          <p:nvPr/>
        </p:nvSpPr>
        <p:spPr bwMode="auto">
          <a:xfrm>
            <a:off x="3267075" y="3848100"/>
            <a:ext cx="409575" cy="323850"/>
          </a:xfrm>
          <a:custGeom>
            <a:avLst/>
            <a:gdLst>
              <a:gd name="T0" fmla="*/ 0 w 258"/>
              <a:gd name="T1" fmla="*/ 0 h 204"/>
              <a:gd name="T2" fmla="*/ 2147483646 w 258"/>
              <a:gd name="T3" fmla="*/ 2147483646 h 204"/>
              <a:gd name="T4" fmla="*/ 2147483646 w 258"/>
              <a:gd name="T5" fmla="*/ 2147483646 h 204"/>
              <a:gd name="T6" fmla="*/ 2147483646 w 258"/>
              <a:gd name="T7" fmla="*/ 2147483646 h 204"/>
              <a:gd name="T8" fmla="*/ 2147483646 w 258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8"/>
              <a:gd name="T16" fmla="*/ 0 h 204"/>
              <a:gd name="T17" fmla="*/ 258 w 258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8" h="204">
                <a:moveTo>
                  <a:pt x="0" y="0"/>
                </a:moveTo>
                <a:lnTo>
                  <a:pt x="66" y="54"/>
                </a:lnTo>
                <a:lnTo>
                  <a:pt x="126" y="108"/>
                </a:lnTo>
                <a:lnTo>
                  <a:pt x="192" y="156"/>
                </a:lnTo>
                <a:lnTo>
                  <a:pt x="258" y="204"/>
                </a:lnTo>
              </a:path>
            </a:pathLst>
          </a:custGeom>
          <a:solidFill>
            <a:schemeClr val="accent2"/>
          </a:solidFill>
          <a:ln w="28575" cmpd="sng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48" name="Freeform 39">
            <a:extLst>
              <a:ext uri="{FF2B5EF4-FFF2-40B4-BE49-F238E27FC236}">
                <a16:creationId xmlns:a16="http://schemas.microsoft.com/office/drawing/2014/main" id="{6BFB8826-D202-1889-A82F-605BE0E96970}"/>
              </a:ext>
            </a:extLst>
          </p:cNvPr>
          <p:cNvSpPr>
            <a:spLocks/>
          </p:cNvSpPr>
          <p:nvPr/>
        </p:nvSpPr>
        <p:spPr bwMode="auto">
          <a:xfrm>
            <a:off x="3676650" y="4171950"/>
            <a:ext cx="419100" cy="190500"/>
          </a:xfrm>
          <a:custGeom>
            <a:avLst/>
            <a:gdLst>
              <a:gd name="T0" fmla="*/ 0 w 264"/>
              <a:gd name="T1" fmla="*/ 0 h 120"/>
              <a:gd name="T2" fmla="*/ 2147483646 w 264"/>
              <a:gd name="T3" fmla="*/ 2147483646 h 120"/>
              <a:gd name="T4" fmla="*/ 2147483646 w 264"/>
              <a:gd name="T5" fmla="*/ 2147483646 h 120"/>
              <a:gd name="T6" fmla="*/ 2147483646 w 264"/>
              <a:gd name="T7" fmla="*/ 2147483646 h 120"/>
              <a:gd name="T8" fmla="*/ 0 60000 65536"/>
              <a:gd name="T9" fmla="*/ 0 60000 65536"/>
              <a:gd name="T10" fmla="*/ 0 60000 65536"/>
              <a:gd name="T11" fmla="*/ 0 60000 65536"/>
              <a:gd name="T12" fmla="*/ 0 w 264"/>
              <a:gd name="T13" fmla="*/ 0 h 120"/>
              <a:gd name="T14" fmla="*/ 264 w 264"/>
              <a:gd name="T15" fmla="*/ 120 h 1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4" h="120">
                <a:moveTo>
                  <a:pt x="0" y="0"/>
                </a:moveTo>
                <a:lnTo>
                  <a:pt x="66" y="36"/>
                </a:lnTo>
                <a:lnTo>
                  <a:pt x="132" y="66"/>
                </a:lnTo>
                <a:lnTo>
                  <a:pt x="264" y="120"/>
                </a:lnTo>
              </a:path>
            </a:pathLst>
          </a:custGeom>
          <a:solidFill>
            <a:schemeClr val="accent2"/>
          </a:solidFill>
          <a:ln w="28575" cmpd="sng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49" name="Freeform 40">
            <a:extLst>
              <a:ext uri="{FF2B5EF4-FFF2-40B4-BE49-F238E27FC236}">
                <a16:creationId xmlns:a16="http://schemas.microsoft.com/office/drawing/2014/main" id="{B7A77873-8E97-C5AB-9649-E136704EF628}"/>
              </a:ext>
            </a:extLst>
          </p:cNvPr>
          <p:cNvSpPr>
            <a:spLocks/>
          </p:cNvSpPr>
          <p:nvPr/>
        </p:nvSpPr>
        <p:spPr bwMode="auto">
          <a:xfrm>
            <a:off x="4095750" y="4362450"/>
            <a:ext cx="409575" cy="123825"/>
          </a:xfrm>
          <a:custGeom>
            <a:avLst/>
            <a:gdLst>
              <a:gd name="T0" fmla="*/ 0 w 258"/>
              <a:gd name="T1" fmla="*/ 0 h 78"/>
              <a:gd name="T2" fmla="*/ 2147483646 w 258"/>
              <a:gd name="T3" fmla="*/ 2147483646 h 78"/>
              <a:gd name="T4" fmla="*/ 2147483646 w 258"/>
              <a:gd name="T5" fmla="*/ 2147483646 h 78"/>
              <a:gd name="T6" fmla="*/ 0 60000 65536"/>
              <a:gd name="T7" fmla="*/ 0 60000 65536"/>
              <a:gd name="T8" fmla="*/ 0 60000 65536"/>
              <a:gd name="T9" fmla="*/ 0 w 258"/>
              <a:gd name="T10" fmla="*/ 0 h 78"/>
              <a:gd name="T11" fmla="*/ 258 w 258"/>
              <a:gd name="T12" fmla="*/ 78 h 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8" h="78">
                <a:moveTo>
                  <a:pt x="0" y="0"/>
                </a:moveTo>
                <a:lnTo>
                  <a:pt x="126" y="42"/>
                </a:lnTo>
                <a:lnTo>
                  <a:pt x="258" y="78"/>
                </a:lnTo>
              </a:path>
            </a:pathLst>
          </a:custGeom>
          <a:solidFill>
            <a:schemeClr val="accent2"/>
          </a:solidFill>
          <a:ln w="28575" cmpd="sng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0" name="Freeform 41">
            <a:extLst>
              <a:ext uri="{FF2B5EF4-FFF2-40B4-BE49-F238E27FC236}">
                <a16:creationId xmlns:a16="http://schemas.microsoft.com/office/drawing/2014/main" id="{0931D9A8-322F-8E32-44FB-D95854B81415}"/>
              </a:ext>
            </a:extLst>
          </p:cNvPr>
          <p:cNvSpPr>
            <a:spLocks/>
          </p:cNvSpPr>
          <p:nvPr/>
        </p:nvSpPr>
        <p:spPr bwMode="auto">
          <a:xfrm>
            <a:off x="4505325" y="4486275"/>
            <a:ext cx="419100" cy="95250"/>
          </a:xfrm>
          <a:custGeom>
            <a:avLst/>
            <a:gdLst>
              <a:gd name="T0" fmla="*/ 0 w 264"/>
              <a:gd name="T1" fmla="*/ 0 h 60"/>
              <a:gd name="T2" fmla="*/ 2147483646 w 264"/>
              <a:gd name="T3" fmla="*/ 2147483646 h 60"/>
              <a:gd name="T4" fmla="*/ 2147483646 w 264"/>
              <a:gd name="T5" fmla="*/ 2147483646 h 60"/>
              <a:gd name="T6" fmla="*/ 2147483646 w 264"/>
              <a:gd name="T7" fmla="*/ 2147483646 h 60"/>
              <a:gd name="T8" fmla="*/ 2147483646 w 264"/>
              <a:gd name="T9" fmla="*/ 2147483646 h 60"/>
              <a:gd name="T10" fmla="*/ 2147483646 w 264"/>
              <a:gd name="T11" fmla="*/ 2147483646 h 60"/>
              <a:gd name="T12" fmla="*/ 2147483646 w 264"/>
              <a:gd name="T13" fmla="*/ 2147483646 h 6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"/>
              <a:gd name="T22" fmla="*/ 0 h 60"/>
              <a:gd name="T23" fmla="*/ 264 w 264"/>
              <a:gd name="T24" fmla="*/ 60 h 6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" h="60">
                <a:moveTo>
                  <a:pt x="0" y="0"/>
                </a:moveTo>
                <a:lnTo>
                  <a:pt x="48" y="12"/>
                </a:lnTo>
                <a:lnTo>
                  <a:pt x="108" y="30"/>
                </a:lnTo>
                <a:lnTo>
                  <a:pt x="138" y="36"/>
                </a:lnTo>
                <a:lnTo>
                  <a:pt x="174" y="42"/>
                </a:lnTo>
                <a:lnTo>
                  <a:pt x="216" y="54"/>
                </a:lnTo>
                <a:lnTo>
                  <a:pt x="264" y="60"/>
                </a:lnTo>
              </a:path>
            </a:pathLst>
          </a:custGeom>
          <a:solidFill>
            <a:schemeClr val="accent2"/>
          </a:solidFill>
          <a:ln w="28575" cmpd="sng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1" name="Freeform 42">
            <a:extLst>
              <a:ext uri="{FF2B5EF4-FFF2-40B4-BE49-F238E27FC236}">
                <a16:creationId xmlns:a16="http://schemas.microsoft.com/office/drawing/2014/main" id="{E7DCC7CC-1E4F-2B98-5204-5E9C22C6D45C}"/>
              </a:ext>
            </a:extLst>
          </p:cNvPr>
          <p:cNvSpPr>
            <a:spLocks/>
          </p:cNvSpPr>
          <p:nvPr/>
        </p:nvSpPr>
        <p:spPr bwMode="auto">
          <a:xfrm>
            <a:off x="4924425" y="4581525"/>
            <a:ext cx="1238250" cy="161925"/>
          </a:xfrm>
          <a:custGeom>
            <a:avLst/>
            <a:gdLst>
              <a:gd name="T0" fmla="*/ 0 w 780"/>
              <a:gd name="T1" fmla="*/ 0 h 102"/>
              <a:gd name="T2" fmla="*/ 2147483646 w 780"/>
              <a:gd name="T3" fmla="*/ 2147483646 h 102"/>
              <a:gd name="T4" fmla="*/ 2147483646 w 780"/>
              <a:gd name="T5" fmla="*/ 2147483646 h 102"/>
              <a:gd name="T6" fmla="*/ 2147483646 w 780"/>
              <a:gd name="T7" fmla="*/ 2147483646 h 102"/>
              <a:gd name="T8" fmla="*/ 2147483646 w 780"/>
              <a:gd name="T9" fmla="*/ 2147483646 h 102"/>
              <a:gd name="T10" fmla="*/ 2147483646 w 780"/>
              <a:gd name="T11" fmla="*/ 2147483646 h 102"/>
              <a:gd name="T12" fmla="*/ 2147483646 w 780"/>
              <a:gd name="T13" fmla="*/ 2147483646 h 102"/>
              <a:gd name="T14" fmla="*/ 2147483646 w 780"/>
              <a:gd name="T15" fmla="*/ 2147483646 h 10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80"/>
              <a:gd name="T25" fmla="*/ 0 h 102"/>
              <a:gd name="T26" fmla="*/ 780 w 780"/>
              <a:gd name="T27" fmla="*/ 102 h 10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80" h="102">
                <a:moveTo>
                  <a:pt x="0" y="0"/>
                </a:moveTo>
                <a:lnTo>
                  <a:pt x="72" y="12"/>
                </a:lnTo>
                <a:lnTo>
                  <a:pt x="156" y="24"/>
                </a:lnTo>
                <a:lnTo>
                  <a:pt x="252" y="36"/>
                </a:lnTo>
                <a:lnTo>
                  <a:pt x="360" y="48"/>
                </a:lnTo>
                <a:lnTo>
                  <a:pt x="570" y="78"/>
                </a:lnTo>
                <a:lnTo>
                  <a:pt x="678" y="90"/>
                </a:lnTo>
                <a:lnTo>
                  <a:pt x="780" y="102"/>
                </a:lnTo>
              </a:path>
            </a:pathLst>
          </a:custGeom>
          <a:solidFill>
            <a:schemeClr val="accent2"/>
          </a:solidFill>
          <a:ln w="28575" cmpd="sng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2" name="Freeform 43">
            <a:extLst>
              <a:ext uri="{FF2B5EF4-FFF2-40B4-BE49-F238E27FC236}">
                <a16:creationId xmlns:a16="http://schemas.microsoft.com/office/drawing/2014/main" id="{61F3F4A7-CEBC-A2C5-21DA-413855458BD7}"/>
              </a:ext>
            </a:extLst>
          </p:cNvPr>
          <p:cNvSpPr>
            <a:spLocks/>
          </p:cNvSpPr>
          <p:nvPr/>
        </p:nvSpPr>
        <p:spPr bwMode="auto">
          <a:xfrm>
            <a:off x="3267075" y="3200400"/>
            <a:ext cx="409575" cy="485775"/>
          </a:xfrm>
          <a:custGeom>
            <a:avLst/>
            <a:gdLst>
              <a:gd name="T0" fmla="*/ 0 w 258"/>
              <a:gd name="T1" fmla="*/ 0 h 306"/>
              <a:gd name="T2" fmla="*/ 2147483646 w 258"/>
              <a:gd name="T3" fmla="*/ 2147483646 h 306"/>
              <a:gd name="T4" fmla="*/ 2147483646 w 258"/>
              <a:gd name="T5" fmla="*/ 2147483646 h 306"/>
              <a:gd name="T6" fmla="*/ 2147483646 w 258"/>
              <a:gd name="T7" fmla="*/ 2147483646 h 306"/>
              <a:gd name="T8" fmla="*/ 2147483646 w 258"/>
              <a:gd name="T9" fmla="*/ 2147483646 h 3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8"/>
              <a:gd name="T16" fmla="*/ 0 h 306"/>
              <a:gd name="T17" fmla="*/ 258 w 258"/>
              <a:gd name="T18" fmla="*/ 306 h 3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8" h="306">
                <a:moveTo>
                  <a:pt x="0" y="0"/>
                </a:moveTo>
                <a:lnTo>
                  <a:pt x="66" y="78"/>
                </a:lnTo>
                <a:lnTo>
                  <a:pt x="126" y="162"/>
                </a:lnTo>
                <a:lnTo>
                  <a:pt x="192" y="240"/>
                </a:lnTo>
                <a:lnTo>
                  <a:pt x="258" y="306"/>
                </a:lnTo>
              </a:path>
            </a:pathLst>
          </a:custGeom>
          <a:solidFill>
            <a:schemeClr val="tx1"/>
          </a:solidFill>
          <a:ln w="28575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3" name="Freeform 44">
            <a:extLst>
              <a:ext uri="{FF2B5EF4-FFF2-40B4-BE49-F238E27FC236}">
                <a16:creationId xmlns:a16="http://schemas.microsoft.com/office/drawing/2014/main" id="{995BC523-68CB-922E-281E-03C86DCEDFBF}"/>
              </a:ext>
            </a:extLst>
          </p:cNvPr>
          <p:cNvSpPr>
            <a:spLocks/>
          </p:cNvSpPr>
          <p:nvPr/>
        </p:nvSpPr>
        <p:spPr bwMode="auto">
          <a:xfrm>
            <a:off x="3676650" y="3686175"/>
            <a:ext cx="419100" cy="285750"/>
          </a:xfrm>
          <a:custGeom>
            <a:avLst/>
            <a:gdLst>
              <a:gd name="T0" fmla="*/ 0 w 264"/>
              <a:gd name="T1" fmla="*/ 0 h 180"/>
              <a:gd name="T2" fmla="*/ 2147483646 w 264"/>
              <a:gd name="T3" fmla="*/ 2147483646 h 180"/>
              <a:gd name="T4" fmla="*/ 2147483646 w 264"/>
              <a:gd name="T5" fmla="*/ 2147483646 h 180"/>
              <a:gd name="T6" fmla="*/ 2147483646 w 264"/>
              <a:gd name="T7" fmla="*/ 2147483646 h 180"/>
              <a:gd name="T8" fmla="*/ 2147483646 w 264"/>
              <a:gd name="T9" fmla="*/ 2147483646 h 1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4"/>
              <a:gd name="T16" fmla="*/ 0 h 180"/>
              <a:gd name="T17" fmla="*/ 264 w 264"/>
              <a:gd name="T18" fmla="*/ 180 h 1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4" h="180">
                <a:moveTo>
                  <a:pt x="0" y="0"/>
                </a:moveTo>
                <a:lnTo>
                  <a:pt x="66" y="54"/>
                </a:lnTo>
                <a:lnTo>
                  <a:pt x="132" y="102"/>
                </a:lnTo>
                <a:lnTo>
                  <a:pt x="198" y="144"/>
                </a:lnTo>
                <a:lnTo>
                  <a:pt x="264" y="180"/>
                </a:lnTo>
              </a:path>
            </a:pathLst>
          </a:custGeom>
          <a:solidFill>
            <a:schemeClr val="tx1"/>
          </a:solidFill>
          <a:ln w="28575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4" name="Freeform 45">
            <a:extLst>
              <a:ext uri="{FF2B5EF4-FFF2-40B4-BE49-F238E27FC236}">
                <a16:creationId xmlns:a16="http://schemas.microsoft.com/office/drawing/2014/main" id="{711BF629-D774-0892-73F1-9F1BE75CF1FF}"/>
              </a:ext>
            </a:extLst>
          </p:cNvPr>
          <p:cNvSpPr>
            <a:spLocks/>
          </p:cNvSpPr>
          <p:nvPr/>
        </p:nvSpPr>
        <p:spPr bwMode="auto">
          <a:xfrm>
            <a:off x="4095750" y="3971925"/>
            <a:ext cx="409575" cy="200025"/>
          </a:xfrm>
          <a:custGeom>
            <a:avLst/>
            <a:gdLst>
              <a:gd name="T0" fmla="*/ 0 w 258"/>
              <a:gd name="T1" fmla="*/ 0 h 126"/>
              <a:gd name="T2" fmla="*/ 2147483646 w 258"/>
              <a:gd name="T3" fmla="*/ 2147483646 h 126"/>
              <a:gd name="T4" fmla="*/ 2147483646 w 258"/>
              <a:gd name="T5" fmla="*/ 2147483646 h 126"/>
              <a:gd name="T6" fmla="*/ 0 60000 65536"/>
              <a:gd name="T7" fmla="*/ 0 60000 65536"/>
              <a:gd name="T8" fmla="*/ 0 60000 65536"/>
              <a:gd name="T9" fmla="*/ 0 w 258"/>
              <a:gd name="T10" fmla="*/ 0 h 126"/>
              <a:gd name="T11" fmla="*/ 258 w 258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8" h="126">
                <a:moveTo>
                  <a:pt x="0" y="0"/>
                </a:moveTo>
                <a:lnTo>
                  <a:pt x="126" y="72"/>
                </a:lnTo>
                <a:lnTo>
                  <a:pt x="258" y="126"/>
                </a:lnTo>
              </a:path>
            </a:pathLst>
          </a:custGeom>
          <a:solidFill>
            <a:schemeClr val="tx1"/>
          </a:solidFill>
          <a:ln w="28575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5" name="Freeform 46">
            <a:extLst>
              <a:ext uri="{FF2B5EF4-FFF2-40B4-BE49-F238E27FC236}">
                <a16:creationId xmlns:a16="http://schemas.microsoft.com/office/drawing/2014/main" id="{3246A118-C951-BD57-4584-A027847CA20A}"/>
              </a:ext>
            </a:extLst>
          </p:cNvPr>
          <p:cNvSpPr>
            <a:spLocks/>
          </p:cNvSpPr>
          <p:nvPr/>
        </p:nvSpPr>
        <p:spPr bwMode="auto">
          <a:xfrm>
            <a:off x="4505325" y="4171950"/>
            <a:ext cx="419100" cy="133350"/>
          </a:xfrm>
          <a:custGeom>
            <a:avLst/>
            <a:gdLst>
              <a:gd name="T0" fmla="*/ 0 w 264"/>
              <a:gd name="T1" fmla="*/ 0 h 84"/>
              <a:gd name="T2" fmla="*/ 2147483646 w 264"/>
              <a:gd name="T3" fmla="*/ 2147483646 h 84"/>
              <a:gd name="T4" fmla="*/ 2147483646 w 264"/>
              <a:gd name="T5" fmla="*/ 2147483646 h 84"/>
              <a:gd name="T6" fmla="*/ 2147483646 w 264"/>
              <a:gd name="T7" fmla="*/ 2147483646 h 84"/>
              <a:gd name="T8" fmla="*/ 2147483646 w 264"/>
              <a:gd name="T9" fmla="*/ 2147483646 h 84"/>
              <a:gd name="T10" fmla="*/ 2147483646 w 264"/>
              <a:gd name="T11" fmla="*/ 2147483646 h 84"/>
              <a:gd name="T12" fmla="*/ 2147483646 w 264"/>
              <a:gd name="T13" fmla="*/ 2147483646 h 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4"/>
              <a:gd name="T22" fmla="*/ 0 h 84"/>
              <a:gd name="T23" fmla="*/ 264 w 264"/>
              <a:gd name="T24" fmla="*/ 84 h 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4" h="84">
                <a:moveTo>
                  <a:pt x="0" y="0"/>
                </a:moveTo>
                <a:lnTo>
                  <a:pt x="48" y="18"/>
                </a:lnTo>
                <a:lnTo>
                  <a:pt x="108" y="42"/>
                </a:lnTo>
                <a:lnTo>
                  <a:pt x="138" y="54"/>
                </a:lnTo>
                <a:lnTo>
                  <a:pt x="174" y="60"/>
                </a:lnTo>
                <a:lnTo>
                  <a:pt x="216" y="72"/>
                </a:lnTo>
                <a:lnTo>
                  <a:pt x="264" y="84"/>
                </a:lnTo>
              </a:path>
            </a:pathLst>
          </a:custGeom>
          <a:solidFill>
            <a:schemeClr val="tx1"/>
          </a:solidFill>
          <a:ln w="28575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6" name="Freeform 47">
            <a:extLst>
              <a:ext uri="{FF2B5EF4-FFF2-40B4-BE49-F238E27FC236}">
                <a16:creationId xmlns:a16="http://schemas.microsoft.com/office/drawing/2014/main" id="{5B1C85BA-2066-EC06-AF20-78BAC010FB64}"/>
              </a:ext>
            </a:extLst>
          </p:cNvPr>
          <p:cNvSpPr>
            <a:spLocks/>
          </p:cNvSpPr>
          <p:nvPr/>
        </p:nvSpPr>
        <p:spPr bwMode="auto">
          <a:xfrm>
            <a:off x="4924425" y="4305300"/>
            <a:ext cx="1238250" cy="247650"/>
          </a:xfrm>
          <a:custGeom>
            <a:avLst/>
            <a:gdLst>
              <a:gd name="T0" fmla="*/ 0 w 780"/>
              <a:gd name="T1" fmla="*/ 0 h 156"/>
              <a:gd name="T2" fmla="*/ 2147483646 w 780"/>
              <a:gd name="T3" fmla="*/ 2147483646 h 156"/>
              <a:gd name="T4" fmla="*/ 2147483646 w 780"/>
              <a:gd name="T5" fmla="*/ 2147483646 h 156"/>
              <a:gd name="T6" fmla="*/ 2147483646 w 780"/>
              <a:gd name="T7" fmla="*/ 2147483646 h 156"/>
              <a:gd name="T8" fmla="*/ 2147483646 w 780"/>
              <a:gd name="T9" fmla="*/ 2147483646 h 156"/>
              <a:gd name="T10" fmla="*/ 2147483646 w 780"/>
              <a:gd name="T11" fmla="*/ 2147483646 h 156"/>
              <a:gd name="T12" fmla="*/ 2147483646 w 780"/>
              <a:gd name="T13" fmla="*/ 2147483646 h 156"/>
              <a:gd name="T14" fmla="*/ 2147483646 w 780"/>
              <a:gd name="T15" fmla="*/ 2147483646 h 15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780"/>
              <a:gd name="T25" fmla="*/ 0 h 156"/>
              <a:gd name="T26" fmla="*/ 780 w 780"/>
              <a:gd name="T27" fmla="*/ 156 h 15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780" h="156">
                <a:moveTo>
                  <a:pt x="0" y="0"/>
                </a:moveTo>
                <a:lnTo>
                  <a:pt x="72" y="18"/>
                </a:lnTo>
                <a:lnTo>
                  <a:pt x="156" y="36"/>
                </a:lnTo>
                <a:lnTo>
                  <a:pt x="252" y="54"/>
                </a:lnTo>
                <a:lnTo>
                  <a:pt x="360" y="72"/>
                </a:lnTo>
                <a:lnTo>
                  <a:pt x="570" y="114"/>
                </a:lnTo>
                <a:lnTo>
                  <a:pt x="678" y="138"/>
                </a:lnTo>
                <a:lnTo>
                  <a:pt x="780" y="156"/>
                </a:lnTo>
              </a:path>
            </a:pathLst>
          </a:custGeom>
          <a:noFill/>
          <a:ln w="28575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KR"/>
          </a:p>
        </p:txBody>
      </p:sp>
      <p:sp>
        <p:nvSpPr>
          <p:cNvPr id="14357" name="Freeform 48">
            <a:extLst>
              <a:ext uri="{FF2B5EF4-FFF2-40B4-BE49-F238E27FC236}">
                <a16:creationId xmlns:a16="http://schemas.microsoft.com/office/drawing/2014/main" id="{A30AB3B0-4C1D-A9E2-B1D2-8222B96113D8}"/>
              </a:ext>
            </a:extLst>
          </p:cNvPr>
          <p:cNvSpPr>
            <a:spLocks/>
          </p:cNvSpPr>
          <p:nvPr/>
        </p:nvSpPr>
        <p:spPr bwMode="auto">
          <a:xfrm>
            <a:off x="3248025" y="2533650"/>
            <a:ext cx="66675" cy="57150"/>
          </a:xfrm>
          <a:custGeom>
            <a:avLst/>
            <a:gdLst>
              <a:gd name="T0" fmla="*/ 0 w 42"/>
              <a:gd name="T1" fmla="*/ 0 h 36"/>
              <a:gd name="T2" fmla="*/ 2147483646 w 42"/>
              <a:gd name="T3" fmla="*/ 2147483646 h 36"/>
              <a:gd name="T4" fmla="*/ 2147483646 w 42"/>
              <a:gd name="T5" fmla="*/ 2147483646 h 36"/>
              <a:gd name="T6" fmla="*/ 2147483646 w 42"/>
              <a:gd name="T7" fmla="*/ 2147483646 h 36"/>
              <a:gd name="T8" fmla="*/ 0 w 42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6"/>
              <a:gd name="T17" fmla="*/ 42 w 42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6">
                <a:moveTo>
                  <a:pt x="0" y="0"/>
                </a:moveTo>
                <a:lnTo>
                  <a:pt x="18" y="30"/>
                </a:lnTo>
                <a:lnTo>
                  <a:pt x="42" y="36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8" name="Freeform 49">
            <a:extLst>
              <a:ext uri="{FF2B5EF4-FFF2-40B4-BE49-F238E27FC236}">
                <a16:creationId xmlns:a16="http://schemas.microsoft.com/office/drawing/2014/main" id="{2A7698A3-FB54-1412-A519-CDD241C05B8E}"/>
              </a:ext>
            </a:extLst>
          </p:cNvPr>
          <p:cNvSpPr>
            <a:spLocks/>
          </p:cNvSpPr>
          <p:nvPr/>
        </p:nvSpPr>
        <p:spPr bwMode="auto">
          <a:xfrm>
            <a:off x="3343275" y="2686050"/>
            <a:ext cx="47625" cy="57150"/>
          </a:xfrm>
          <a:custGeom>
            <a:avLst/>
            <a:gdLst>
              <a:gd name="T0" fmla="*/ 0 w 30"/>
              <a:gd name="T1" fmla="*/ 0 h 36"/>
              <a:gd name="T2" fmla="*/ 2147483646 w 30"/>
              <a:gd name="T3" fmla="*/ 2147483646 h 36"/>
              <a:gd name="T4" fmla="*/ 2147483646 w 30"/>
              <a:gd name="T5" fmla="*/ 2147483646 h 36"/>
              <a:gd name="T6" fmla="*/ 2147483646 w 30"/>
              <a:gd name="T7" fmla="*/ 2147483646 h 36"/>
              <a:gd name="T8" fmla="*/ 0 w 30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36"/>
              <a:gd name="T17" fmla="*/ 30 w 30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36">
                <a:moveTo>
                  <a:pt x="0" y="0"/>
                </a:moveTo>
                <a:lnTo>
                  <a:pt x="12" y="30"/>
                </a:lnTo>
                <a:lnTo>
                  <a:pt x="30" y="36"/>
                </a:lnTo>
                <a:lnTo>
                  <a:pt x="18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59" name="Rectangle 50">
            <a:extLst>
              <a:ext uri="{FF2B5EF4-FFF2-40B4-BE49-F238E27FC236}">
                <a16:creationId xmlns:a16="http://schemas.microsoft.com/office/drawing/2014/main" id="{0E612D93-E5EF-E165-8529-0ADBDA1B8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705100"/>
            <a:ext cx="28575" cy="9525"/>
          </a:xfrm>
          <a:prstGeom prst="rect">
            <a:avLst/>
          </a:prstGeom>
          <a:solidFill>
            <a:schemeClr val="hlink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60" name="Freeform 51">
            <a:extLst>
              <a:ext uri="{FF2B5EF4-FFF2-40B4-BE49-F238E27FC236}">
                <a16:creationId xmlns:a16="http://schemas.microsoft.com/office/drawing/2014/main" id="{D5E14904-3BD9-0BDF-609C-75D6DEC2C431}"/>
              </a:ext>
            </a:extLst>
          </p:cNvPr>
          <p:cNvSpPr>
            <a:spLocks/>
          </p:cNvSpPr>
          <p:nvPr/>
        </p:nvSpPr>
        <p:spPr bwMode="auto">
          <a:xfrm>
            <a:off x="3400425" y="2809875"/>
            <a:ext cx="66675" cy="57150"/>
          </a:xfrm>
          <a:custGeom>
            <a:avLst/>
            <a:gdLst>
              <a:gd name="T0" fmla="*/ 0 w 42"/>
              <a:gd name="T1" fmla="*/ 0 h 36"/>
              <a:gd name="T2" fmla="*/ 2147483646 w 42"/>
              <a:gd name="T3" fmla="*/ 2147483646 h 36"/>
              <a:gd name="T4" fmla="*/ 2147483646 w 42"/>
              <a:gd name="T5" fmla="*/ 2147483646 h 36"/>
              <a:gd name="T6" fmla="*/ 2147483646 w 42"/>
              <a:gd name="T7" fmla="*/ 2147483646 h 36"/>
              <a:gd name="T8" fmla="*/ 0 w 42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6"/>
              <a:gd name="T17" fmla="*/ 42 w 42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6">
                <a:moveTo>
                  <a:pt x="0" y="0"/>
                </a:moveTo>
                <a:lnTo>
                  <a:pt x="18" y="30"/>
                </a:lnTo>
                <a:lnTo>
                  <a:pt x="42" y="36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1" name="Freeform 52">
            <a:extLst>
              <a:ext uri="{FF2B5EF4-FFF2-40B4-BE49-F238E27FC236}">
                <a16:creationId xmlns:a16="http://schemas.microsoft.com/office/drawing/2014/main" id="{EC6A4DD2-46D8-65F7-1667-BF6654E880D4}"/>
              </a:ext>
            </a:extLst>
          </p:cNvPr>
          <p:cNvSpPr>
            <a:spLocks/>
          </p:cNvSpPr>
          <p:nvPr/>
        </p:nvSpPr>
        <p:spPr bwMode="auto">
          <a:xfrm>
            <a:off x="3486150" y="2924175"/>
            <a:ext cx="57150" cy="66675"/>
          </a:xfrm>
          <a:custGeom>
            <a:avLst/>
            <a:gdLst>
              <a:gd name="T0" fmla="*/ 0 w 36"/>
              <a:gd name="T1" fmla="*/ 0 h 42"/>
              <a:gd name="T2" fmla="*/ 2147483646 w 36"/>
              <a:gd name="T3" fmla="*/ 2147483646 h 42"/>
              <a:gd name="T4" fmla="*/ 2147483646 w 36"/>
              <a:gd name="T5" fmla="*/ 2147483646 h 42"/>
              <a:gd name="T6" fmla="*/ 2147483646 w 36"/>
              <a:gd name="T7" fmla="*/ 2147483646 h 42"/>
              <a:gd name="T8" fmla="*/ 0 w 36"/>
              <a:gd name="T9" fmla="*/ 0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42"/>
              <a:gd name="T17" fmla="*/ 36 w 36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42">
                <a:moveTo>
                  <a:pt x="0" y="0"/>
                </a:moveTo>
                <a:lnTo>
                  <a:pt x="18" y="36"/>
                </a:lnTo>
                <a:lnTo>
                  <a:pt x="36" y="42"/>
                </a:lnTo>
                <a:lnTo>
                  <a:pt x="18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2" name="Freeform 53">
            <a:extLst>
              <a:ext uri="{FF2B5EF4-FFF2-40B4-BE49-F238E27FC236}">
                <a16:creationId xmlns:a16="http://schemas.microsoft.com/office/drawing/2014/main" id="{BC2071CB-78E6-0F68-0D4E-A2AACDA99FE2}"/>
              </a:ext>
            </a:extLst>
          </p:cNvPr>
          <p:cNvSpPr>
            <a:spLocks/>
          </p:cNvSpPr>
          <p:nvPr/>
        </p:nvSpPr>
        <p:spPr bwMode="auto">
          <a:xfrm>
            <a:off x="3562350" y="3048000"/>
            <a:ext cx="66675" cy="57150"/>
          </a:xfrm>
          <a:custGeom>
            <a:avLst/>
            <a:gdLst>
              <a:gd name="T0" fmla="*/ 0 w 42"/>
              <a:gd name="T1" fmla="*/ 0 h 36"/>
              <a:gd name="T2" fmla="*/ 2147483646 w 42"/>
              <a:gd name="T3" fmla="*/ 2147483646 h 36"/>
              <a:gd name="T4" fmla="*/ 2147483646 w 42"/>
              <a:gd name="T5" fmla="*/ 2147483646 h 36"/>
              <a:gd name="T6" fmla="*/ 2147483646 w 42"/>
              <a:gd name="T7" fmla="*/ 2147483646 h 36"/>
              <a:gd name="T8" fmla="*/ 0 w 42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6"/>
              <a:gd name="T17" fmla="*/ 42 w 42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6">
                <a:moveTo>
                  <a:pt x="0" y="0"/>
                </a:moveTo>
                <a:lnTo>
                  <a:pt x="18" y="30"/>
                </a:lnTo>
                <a:lnTo>
                  <a:pt x="42" y="36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3" name="Freeform 54">
            <a:extLst>
              <a:ext uri="{FF2B5EF4-FFF2-40B4-BE49-F238E27FC236}">
                <a16:creationId xmlns:a16="http://schemas.microsoft.com/office/drawing/2014/main" id="{38A1E6E7-115E-CA28-8F8A-14EED869D009}"/>
              </a:ext>
            </a:extLst>
          </p:cNvPr>
          <p:cNvSpPr>
            <a:spLocks/>
          </p:cNvSpPr>
          <p:nvPr/>
        </p:nvSpPr>
        <p:spPr bwMode="auto">
          <a:xfrm>
            <a:off x="3648075" y="3162300"/>
            <a:ext cx="47625" cy="57150"/>
          </a:xfrm>
          <a:custGeom>
            <a:avLst/>
            <a:gdLst>
              <a:gd name="T0" fmla="*/ 0 w 30"/>
              <a:gd name="T1" fmla="*/ 0 h 36"/>
              <a:gd name="T2" fmla="*/ 2147483646 w 30"/>
              <a:gd name="T3" fmla="*/ 2147483646 h 36"/>
              <a:gd name="T4" fmla="*/ 2147483646 w 30"/>
              <a:gd name="T5" fmla="*/ 2147483646 h 36"/>
              <a:gd name="T6" fmla="*/ 2147483646 w 30"/>
              <a:gd name="T7" fmla="*/ 2147483646 h 36"/>
              <a:gd name="T8" fmla="*/ 0 w 30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36"/>
              <a:gd name="T17" fmla="*/ 30 w 30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36">
                <a:moveTo>
                  <a:pt x="0" y="0"/>
                </a:moveTo>
                <a:lnTo>
                  <a:pt x="12" y="30"/>
                </a:lnTo>
                <a:lnTo>
                  <a:pt x="30" y="36"/>
                </a:lnTo>
                <a:lnTo>
                  <a:pt x="18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4" name="Freeform 55">
            <a:extLst>
              <a:ext uri="{FF2B5EF4-FFF2-40B4-BE49-F238E27FC236}">
                <a16:creationId xmlns:a16="http://schemas.microsoft.com/office/drawing/2014/main" id="{78FE2B17-BC35-F8D2-4F81-768399B1183C}"/>
              </a:ext>
            </a:extLst>
          </p:cNvPr>
          <p:cNvSpPr>
            <a:spLocks/>
          </p:cNvSpPr>
          <p:nvPr/>
        </p:nvSpPr>
        <p:spPr bwMode="auto">
          <a:xfrm>
            <a:off x="3657600" y="3171825"/>
            <a:ext cx="66675" cy="57150"/>
          </a:xfrm>
          <a:custGeom>
            <a:avLst/>
            <a:gdLst>
              <a:gd name="T0" fmla="*/ 0 w 42"/>
              <a:gd name="T1" fmla="*/ 0 h 36"/>
              <a:gd name="T2" fmla="*/ 2147483646 w 42"/>
              <a:gd name="T3" fmla="*/ 2147483646 h 36"/>
              <a:gd name="T4" fmla="*/ 2147483646 w 42"/>
              <a:gd name="T5" fmla="*/ 2147483646 h 36"/>
              <a:gd name="T6" fmla="*/ 2147483646 w 42"/>
              <a:gd name="T7" fmla="*/ 2147483646 h 36"/>
              <a:gd name="T8" fmla="*/ 0 w 42"/>
              <a:gd name="T9" fmla="*/ 0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6"/>
              <a:gd name="T17" fmla="*/ 42 w 42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6">
                <a:moveTo>
                  <a:pt x="0" y="0"/>
                </a:moveTo>
                <a:lnTo>
                  <a:pt x="18" y="30"/>
                </a:lnTo>
                <a:lnTo>
                  <a:pt x="42" y="36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5" name="Freeform 56">
            <a:extLst>
              <a:ext uri="{FF2B5EF4-FFF2-40B4-BE49-F238E27FC236}">
                <a16:creationId xmlns:a16="http://schemas.microsoft.com/office/drawing/2014/main" id="{EA047522-5C06-B911-4C59-1B6BD4D87E3F}"/>
              </a:ext>
            </a:extLst>
          </p:cNvPr>
          <p:cNvSpPr>
            <a:spLocks/>
          </p:cNvSpPr>
          <p:nvPr/>
        </p:nvSpPr>
        <p:spPr bwMode="auto">
          <a:xfrm>
            <a:off x="3752850" y="3314700"/>
            <a:ext cx="47625" cy="19050"/>
          </a:xfrm>
          <a:custGeom>
            <a:avLst/>
            <a:gdLst>
              <a:gd name="T0" fmla="*/ 0 w 30"/>
              <a:gd name="T1" fmla="*/ 0 h 12"/>
              <a:gd name="T2" fmla="*/ 2147483646 w 30"/>
              <a:gd name="T3" fmla="*/ 2147483646 h 12"/>
              <a:gd name="T4" fmla="*/ 2147483646 w 30"/>
              <a:gd name="T5" fmla="*/ 2147483646 h 12"/>
              <a:gd name="T6" fmla="*/ 2147483646 w 30"/>
              <a:gd name="T7" fmla="*/ 2147483646 h 12"/>
              <a:gd name="T8" fmla="*/ 0 w 30"/>
              <a:gd name="T9" fmla="*/ 0 h 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12"/>
              <a:gd name="T17" fmla="*/ 30 w 30"/>
              <a:gd name="T18" fmla="*/ 12 h 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12">
                <a:moveTo>
                  <a:pt x="0" y="0"/>
                </a:moveTo>
                <a:lnTo>
                  <a:pt x="6" y="6"/>
                </a:lnTo>
                <a:lnTo>
                  <a:pt x="30" y="12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6" name="Freeform 57">
            <a:extLst>
              <a:ext uri="{FF2B5EF4-FFF2-40B4-BE49-F238E27FC236}">
                <a16:creationId xmlns:a16="http://schemas.microsoft.com/office/drawing/2014/main" id="{EACF7C14-B080-9245-B58F-F23739F3F04B}"/>
              </a:ext>
            </a:extLst>
          </p:cNvPr>
          <p:cNvSpPr>
            <a:spLocks/>
          </p:cNvSpPr>
          <p:nvPr/>
        </p:nvSpPr>
        <p:spPr bwMode="auto">
          <a:xfrm>
            <a:off x="3762375" y="3286125"/>
            <a:ext cx="66675" cy="47625"/>
          </a:xfrm>
          <a:custGeom>
            <a:avLst/>
            <a:gdLst>
              <a:gd name="T0" fmla="*/ 0 w 42"/>
              <a:gd name="T1" fmla="*/ 0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2147483646 h 30"/>
              <a:gd name="T8" fmla="*/ 0 w 42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0"/>
                </a:moveTo>
                <a:lnTo>
                  <a:pt x="18" y="24"/>
                </a:lnTo>
                <a:lnTo>
                  <a:pt x="42" y="30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7" name="Freeform 58">
            <a:extLst>
              <a:ext uri="{FF2B5EF4-FFF2-40B4-BE49-F238E27FC236}">
                <a16:creationId xmlns:a16="http://schemas.microsoft.com/office/drawing/2014/main" id="{820E583B-4D32-A99E-887C-157C721F3A93}"/>
              </a:ext>
            </a:extLst>
          </p:cNvPr>
          <p:cNvSpPr>
            <a:spLocks/>
          </p:cNvSpPr>
          <p:nvPr/>
        </p:nvSpPr>
        <p:spPr bwMode="auto">
          <a:xfrm>
            <a:off x="3857625" y="3419475"/>
            <a:ext cx="47625" cy="19050"/>
          </a:xfrm>
          <a:custGeom>
            <a:avLst/>
            <a:gdLst>
              <a:gd name="T0" fmla="*/ 0 w 30"/>
              <a:gd name="T1" fmla="*/ 0 h 12"/>
              <a:gd name="T2" fmla="*/ 2147483646 w 30"/>
              <a:gd name="T3" fmla="*/ 2147483646 h 12"/>
              <a:gd name="T4" fmla="*/ 2147483646 w 30"/>
              <a:gd name="T5" fmla="*/ 2147483646 h 12"/>
              <a:gd name="T6" fmla="*/ 2147483646 w 30"/>
              <a:gd name="T7" fmla="*/ 2147483646 h 12"/>
              <a:gd name="T8" fmla="*/ 0 w 30"/>
              <a:gd name="T9" fmla="*/ 0 h 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12"/>
              <a:gd name="T17" fmla="*/ 30 w 30"/>
              <a:gd name="T18" fmla="*/ 12 h 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12">
                <a:moveTo>
                  <a:pt x="0" y="0"/>
                </a:moveTo>
                <a:lnTo>
                  <a:pt x="6" y="6"/>
                </a:lnTo>
                <a:lnTo>
                  <a:pt x="30" y="12"/>
                </a:lnTo>
                <a:lnTo>
                  <a:pt x="24" y="6"/>
                </a:lnTo>
                <a:lnTo>
                  <a:pt x="0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8" name="Freeform 59">
            <a:extLst>
              <a:ext uri="{FF2B5EF4-FFF2-40B4-BE49-F238E27FC236}">
                <a16:creationId xmlns:a16="http://schemas.microsoft.com/office/drawing/2014/main" id="{1709102B-7C1A-368A-EEF4-01A53556E19B}"/>
              </a:ext>
            </a:extLst>
          </p:cNvPr>
          <p:cNvSpPr>
            <a:spLocks/>
          </p:cNvSpPr>
          <p:nvPr/>
        </p:nvSpPr>
        <p:spPr bwMode="auto">
          <a:xfrm>
            <a:off x="3857625" y="3400425"/>
            <a:ext cx="47625" cy="66675"/>
          </a:xfrm>
          <a:custGeom>
            <a:avLst/>
            <a:gdLst>
              <a:gd name="T0" fmla="*/ 0 w 30"/>
              <a:gd name="T1" fmla="*/ 2147483646 h 42"/>
              <a:gd name="T2" fmla="*/ 2147483646 w 30"/>
              <a:gd name="T3" fmla="*/ 2147483646 h 42"/>
              <a:gd name="T4" fmla="*/ 2147483646 w 30"/>
              <a:gd name="T5" fmla="*/ 2147483646 h 42"/>
              <a:gd name="T6" fmla="*/ 2147483646 w 30"/>
              <a:gd name="T7" fmla="*/ 0 h 42"/>
              <a:gd name="T8" fmla="*/ 0 w 30"/>
              <a:gd name="T9" fmla="*/ 2147483646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42"/>
              <a:gd name="T17" fmla="*/ 30 w 30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42">
                <a:moveTo>
                  <a:pt x="0" y="24"/>
                </a:moveTo>
                <a:lnTo>
                  <a:pt x="24" y="42"/>
                </a:lnTo>
                <a:lnTo>
                  <a:pt x="30" y="18"/>
                </a:lnTo>
                <a:lnTo>
                  <a:pt x="6" y="0"/>
                </a:lnTo>
                <a:lnTo>
                  <a:pt x="0" y="24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69" name="Freeform 60">
            <a:extLst>
              <a:ext uri="{FF2B5EF4-FFF2-40B4-BE49-F238E27FC236}">
                <a16:creationId xmlns:a16="http://schemas.microsoft.com/office/drawing/2014/main" id="{3F8BEB4D-127C-1723-AD52-725A69FAF142}"/>
              </a:ext>
            </a:extLst>
          </p:cNvPr>
          <p:cNvSpPr>
            <a:spLocks/>
          </p:cNvSpPr>
          <p:nvPr/>
        </p:nvSpPr>
        <p:spPr bwMode="auto">
          <a:xfrm>
            <a:off x="3962400" y="3486150"/>
            <a:ext cx="57150" cy="66675"/>
          </a:xfrm>
          <a:custGeom>
            <a:avLst/>
            <a:gdLst>
              <a:gd name="T0" fmla="*/ 0 w 36"/>
              <a:gd name="T1" fmla="*/ 2147483646 h 42"/>
              <a:gd name="T2" fmla="*/ 2147483646 w 36"/>
              <a:gd name="T3" fmla="*/ 2147483646 h 42"/>
              <a:gd name="T4" fmla="*/ 2147483646 w 36"/>
              <a:gd name="T5" fmla="*/ 2147483646 h 42"/>
              <a:gd name="T6" fmla="*/ 2147483646 w 36"/>
              <a:gd name="T7" fmla="*/ 0 h 42"/>
              <a:gd name="T8" fmla="*/ 0 w 36"/>
              <a:gd name="T9" fmla="*/ 2147483646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42"/>
              <a:gd name="T17" fmla="*/ 36 w 36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42">
                <a:moveTo>
                  <a:pt x="0" y="24"/>
                </a:moveTo>
                <a:lnTo>
                  <a:pt x="30" y="42"/>
                </a:lnTo>
                <a:lnTo>
                  <a:pt x="36" y="18"/>
                </a:lnTo>
                <a:lnTo>
                  <a:pt x="6" y="0"/>
                </a:lnTo>
                <a:lnTo>
                  <a:pt x="0" y="24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0" name="Freeform 61">
            <a:extLst>
              <a:ext uri="{FF2B5EF4-FFF2-40B4-BE49-F238E27FC236}">
                <a16:creationId xmlns:a16="http://schemas.microsoft.com/office/drawing/2014/main" id="{109CE49C-E9E2-637F-016B-D284BB8C17B4}"/>
              </a:ext>
            </a:extLst>
          </p:cNvPr>
          <p:cNvSpPr>
            <a:spLocks/>
          </p:cNvSpPr>
          <p:nvPr/>
        </p:nvSpPr>
        <p:spPr bwMode="auto">
          <a:xfrm>
            <a:off x="4067175" y="3571875"/>
            <a:ext cx="57150" cy="66675"/>
          </a:xfrm>
          <a:custGeom>
            <a:avLst/>
            <a:gdLst>
              <a:gd name="T0" fmla="*/ 0 w 36"/>
              <a:gd name="T1" fmla="*/ 2147483646 h 42"/>
              <a:gd name="T2" fmla="*/ 2147483646 w 36"/>
              <a:gd name="T3" fmla="*/ 2147483646 h 42"/>
              <a:gd name="T4" fmla="*/ 2147483646 w 36"/>
              <a:gd name="T5" fmla="*/ 2147483646 h 42"/>
              <a:gd name="T6" fmla="*/ 2147483646 w 36"/>
              <a:gd name="T7" fmla="*/ 0 h 42"/>
              <a:gd name="T8" fmla="*/ 0 w 36"/>
              <a:gd name="T9" fmla="*/ 2147483646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42"/>
              <a:gd name="T17" fmla="*/ 36 w 36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42">
                <a:moveTo>
                  <a:pt x="0" y="24"/>
                </a:moveTo>
                <a:lnTo>
                  <a:pt x="30" y="42"/>
                </a:lnTo>
                <a:lnTo>
                  <a:pt x="36" y="18"/>
                </a:lnTo>
                <a:lnTo>
                  <a:pt x="6" y="0"/>
                </a:lnTo>
                <a:lnTo>
                  <a:pt x="0" y="24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1" name="Freeform 62">
            <a:extLst>
              <a:ext uri="{FF2B5EF4-FFF2-40B4-BE49-F238E27FC236}">
                <a16:creationId xmlns:a16="http://schemas.microsoft.com/office/drawing/2014/main" id="{E580A189-A35D-0148-ED69-DF867131270D}"/>
              </a:ext>
            </a:extLst>
          </p:cNvPr>
          <p:cNvSpPr>
            <a:spLocks/>
          </p:cNvSpPr>
          <p:nvPr/>
        </p:nvSpPr>
        <p:spPr bwMode="auto">
          <a:xfrm>
            <a:off x="4181475" y="3657600"/>
            <a:ext cx="66675" cy="57150"/>
          </a:xfrm>
          <a:custGeom>
            <a:avLst/>
            <a:gdLst>
              <a:gd name="T0" fmla="*/ 0 w 42"/>
              <a:gd name="T1" fmla="*/ 2147483646 h 36"/>
              <a:gd name="T2" fmla="*/ 2147483646 w 42"/>
              <a:gd name="T3" fmla="*/ 2147483646 h 36"/>
              <a:gd name="T4" fmla="*/ 2147483646 w 42"/>
              <a:gd name="T5" fmla="*/ 2147483646 h 36"/>
              <a:gd name="T6" fmla="*/ 2147483646 w 42"/>
              <a:gd name="T7" fmla="*/ 0 h 36"/>
              <a:gd name="T8" fmla="*/ 0 w 42"/>
              <a:gd name="T9" fmla="*/ 2147483646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6"/>
              <a:gd name="T17" fmla="*/ 42 w 42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6">
                <a:moveTo>
                  <a:pt x="0" y="18"/>
                </a:moveTo>
                <a:lnTo>
                  <a:pt x="36" y="36"/>
                </a:lnTo>
                <a:lnTo>
                  <a:pt x="42" y="18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2" name="Freeform 63">
            <a:extLst>
              <a:ext uri="{FF2B5EF4-FFF2-40B4-BE49-F238E27FC236}">
                <a16:creationId xmlns:a16="http://schemas.microsoft.com/office/drawing/2014/main" id="{8F112CCE-FFBA-6BB2-2EF5-F2D50C5A36E3}"/>
              </a:ext>
            </a:extLst>
          </p:cNvPr>
          <p:cNvSpPr>
            <a:spLocks/>
          </p:cNvSpPr>
          <p:nvPr/>
        </p:nvSpPr>
        <p:spPr bwMode="auto">
          <a:xfrm>
            <a:off x="4305300" y="3743325"/>
            <a:ext cx="57150" cy="47625"/>
          </a:xfrm>
          <a:custGeom>
            <a:avLst/>
            <a:gdLst>
              <a:gd name="T0" fmla="*/ 0 w 36"/>
              <a:gd name="T1" fmla="*/ 2147483646 h 30"/>
              <a:gd name="T2" fmla="*/ 2147483646 w 36"/>
              <a:gd name="T3" fmla="*/ 2147483646 h 30"/>
              <a:gd name="T4" fmla="*/ 2147483646 w 36"/>
              <a:gd name="T5" fmla="*/ 2147483646 h 30"/>
              <a:gd name="T6" fmla="*/ 2147483646 w 36"/>
              <a:gd name="T7" fmla="*/ 0 h 30"/>
              <a:gd name="T8" fmla="*/ 0 w 36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30"/>
              <a:gd name="T17" fmla="*/ 36 w 36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30">
                <a:moveTo>
                  <a:pt x="0" y="18"/>
                </a:moveTo>
                <a:lnTo>
                  <a:pt x="30" y="30"/>
                </a:lnTo>
                <a:lnTo>
                  <a:pt x="36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3" name="Freeform 64">
            <a:extLst>
              <a:ext uri="{FF2B5EF4-FFF2-40B4-BE49-F238E27FC236}">
                <a16:creationId xmlns:a16="http://schemas.microsoft.com/office/drawing/2014/main" id="{45DC7F6B-9779-7A53-083F-C5A0AC0E2EB2}"/>
              </a:ext>
            </a:extLst>
          </p:cNvPr>
          <p:cNvSpPr>
            <a:spLocks/>
          </p:cNvSpPr>
          <p:nvPr/>
        </p:nvSpPr>
        <p:spPr bwMode="auto">
          <a:xfrm>
            <a:off x="4457700" y="3810000"/>
            <a:ext cx="66675" cy="57150"/>
          </a:xfrm>
          <a:custGeom>
            <a:avLst/>
            <a:gdLst>
              <a:gd name="T0" fmla="*/ 0 w 42"/>
              <a:gd name="T1" fmla="*/ 2147483646 h 36"/>
              <a:gd name="T2" fmla="*/ 2147483646 w 42"/>
              <a:gd name="T3" fmla="*/ 2147483646 h 36"/>
              <a:gd name="T4" fmla="*/ 2147483646 w 42"/>
              <a:gd name="T5" fmla="*/ 2147483646 h 36"/>
              <a:gd name="T6" fmla="*/ 2147483646 w 42"/>
              <a:gd name="T7" fmla="*/ 0 h 36"/>
              <a:gd name="T8" fmla="*/ 0 w 42"/>
              <a:gd name="T9" fmla="*/ 2147483646 h 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6"/>
              <a:gd name="T17" fmla="*/ 42 w 42"/>
              <a:gd name="T18" fmla="*/ 36 h 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6">
                <a:moveTo>
                  <a:pt x="0" y="18"/>
                </a:moveTo>
                <a:lnTo>
                  <a:pt x="36" y="36"/>
                </a:lnTo>
                <a:lnTo>
                  <a:pt x="42" y="18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4" name="Freeform 65">
            <a:extLst>
              <a:ext uri="{FF2B5EF4-FFF2-40B4-BE49-F238E27FC236}">
                <a16:creationId xmlns:a16="http://schemas.microsoft.com/office/drawing/2014/main" id="{FF155C96-5A08-73C6-F1D0-D181EAA536B5}"/>
              </a:ext>
            </a:extLst>
          </p:cNvPr>
          <p:cNvSpPr>
            <a:spLocks/>
          </p:cNvSpPr>
          <p:nvPr/>
        </p:nvSpPr>
        <p:spPr bwMode="auto">
          <a:xfrm>
            <a:off x="4476750" y="3838575"/>
            <a:ext cx="66675" cy="47625"/>
          </a:xfrm>
          <a:custGeom>
            <a:avLst/>
            <a:gdLst>
              <a:gd name="T0" fmla="*/ 0 w 42"/>
              <a:gd name="T1" fmla="*/ 2147483646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0 h 30"/>
              <a:gd name="T8" fmla="*/ 0 w 42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18"/>
                </a:moveTo>
                <a:lnTo>
                  <a:pt x="36" y="30"/>
                </a:lnTo>
                <a:lnTo>
                  <a:pt x="42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5" name="Freeform 66">
            <a:extLst>
              <a:ext uri="{FF2B5EF4-FFF2-40B4-BE49-F238E27FC236}">
                <a16:creationId xmlns:a16="http://schemas.microsoft.com/office/drawing/2014/main" id="{39E5EA77-B1F5-C714-3074-9E704858B751}"/>
              </a:ext>
            </a:extLst>
          </p:cNvPr>
          <p:cNvSpPr>
            <a:spLocks/>
          </p:cNvSpPr>
          <p:nvPr/>
        </p:nvSpPr>
        <p:spPr bwMode="auto">
          <a:xfrm>
            <a:off x="4610100" y="3905250"/>
            <a:ext cx="66675" cy="47625"/>
          </a:xfrm>
          <a:custGeom>
            <a:avLst/>
            <a:gdLst>
              <a:gd name="T0" fmla="*/ 0 w 42"/>
              <a:gd name="T1" fmla="*/ 2147483646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0 h 30"/>
              <a:gd name="T8" fmla="*/ 0 w 42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18"/>
                </a:moveTo>
                <a:lnTo>
                  <a:pt x="36" y="30"/>
                </a:lnTo>
                <a:lnTo>
                  <a:pt x="42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6" name="Freeform 67">
            <a:extLst>
              <a:ext uri="{FF2B5EF4-FFF2-40B4-BE49-F238E27FC236}">
                <a16:creationId xmlns:a16="http://schemas.microsoft.com/office/drawing/2014/main" id="{271E063C-166D-65B8-F1A8-F12E316A6B4D}"/>
              </a:ext>
            </a:extLst>
          </p:cNvPr>
          <p:cNvSpPr>
            <a:spLocks/>
          </p:cNvSpPr>
          <p:nvPr/>
        </p:nvSpPr>
        <p:spPr bwMode="auto">
          <a:xfrm>
            <a:off x="4743450" y="3962400"/>
            <a:ext cx="47625" cy="38100"/>
          </a:xfrm>
          <a:custGeom>
            <a:avLst/>
            <a:gdLst>
              <a:gd name="T0" fmla="*/ 0 w 30"/>
              <a:gd name="T1" fmla="*/ 2147483646 h 24"/>
              <a:gd name="T2" fmla="*/ 2147483646 w 30"/>
              <a:gd name="T3" fmla="*/ 2147483646 h 24"/>
              <a:gd name="T4" fmla="*/ 2147483646 w 30"/>
              <a:gd name="T5" fmla="*/ 2147483646 h 24"/>
              <a:gd name="T6" fmla="*/ 2147483646 w 30"/>
              <a:gd name="T7" fmla="*/ 0 h 24"/>
              <a:gd name="T8" fmla="*/ 0 w 30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24"/>
              <a:gd name="T17" fmla="*/ 30 w 30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24">
                <a:moveTo>
                  <a:pt x="0" y="18"/>
                </a:moveTo>
                <a:lnTo>
                  <a:pt x="24" y="24"/>
                </a:lnTo>
                <a:lnTo>
                  <a:pt x="30" y="6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7" name="Rectangle 68">
            <a:extLst>
              <a:ext uri="{FF2B5EF4-FFF2-40B4-BE49-F238E27FC236}">
                <a16:creationId xmlns:a16="http://schemas.microsoft.com/office/drawing/2014/main" id="{0F6BADEB-2CB5-58C5-6BA0-4BB76F9C4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3971925"/>
            <a:ext cx="19050" cy="28575"/>
          </a:xfrm>
          <a:prstGeom prst="rect">
            <a:avLst/>
          </a:prstGeom>
          <a:solidFill>
            <a:schemeClr val="hlink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78" name="Freeform 69">
            <a:extLst>
              <a:ext uri="{FF2B5EF4-FFF2-40B4-BE49-F238E27FC236}">
                <a16:creationId xmlns:a16="http://schemas.microsoft.com/office/drawing/2014/main" id="{FBB0AE69-D035-B921-409E-93D5B958FC89}"/>
              </a:ext>
            </a:extLst>
          </p:cNvPr>
          <p:cNvSpPr>
            <a:spLocks/>
          </p:cNvSpPr>
          <p:nvPr/>
        </p:nvSpPr>
        <p:spPr bwMode="auto">
          <a:xfrm>
            <a:off x="4876800" y="4010025"/>
            <a:ext cx="57150" cy="38100"/>
          </a:xfrm>
          <a:custGeom>
            <a:avLst/>
            <a:gdLst>
              <a:gd name="T0" fmla="*/ 0 w 36"/>
              <a:gd name="T1" fmla="*/ 2147483646 h 24"/>
              <a:gd name="T2" fmla="*/ 2147483646 w 36"/>
              <a:gd name="T3" fmla="*/ 2147483646 h 24"/>
              <a:gd name="T4" fmla="*/ 2147483646 w 36"/>
              <a:gd name="T5" fmla="*/ 2147483646 h 24"/>
              <a:gd name="T6" fmla="*/ 2147483646 w 36"/>
              <a:gd name="T7" fmla="*/ 0 h 24"/>
              <a:gd name="T8" fmla="*/ 0 w 36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24"/>
              <a:gd name="T17" fmla="*/ 36 w 36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24">
                <a:moveTo>
                  <a:pt x="0" y="18"/>
                </a:moveTo>
                <a:lnTo>
                  <a:pt x="30" y="24"/>
                </a:lnTo>
                <a:lnTo>
                  <a:pt x="36" y="6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79" name="Freeform 70">
            <a:extLst>
              <a:ext uri="{FF2B5EF4-FFF2-40B4-BE49-F238E27FC236}">
                <a16:creationId xmlns:a16="http://schemas.microsoft.com/office/drawing/2014/main" id="{6FDD1169-9E78-DA70-9947-148ADFB897C1}"/>
              </a:ext>
            </a:extLst>
          </p:cNvPr>
          <p:cNvSpPr>
            <a:spLocks/>
          </p:cNvSpPr>
          <p:nvPr/>
        </p:nvSpPr>
        <p:spPr bwMode="auto">
          <a:xfrm>
            <a:off x="4905375" y="4019550"/>
            <a:ext cx="66675" cy="47625"/>
          </a:xfrm>
          <a:custGeom>
            <a:avLst/>
            <a:gdLst>
              <a:gd name="T0" fmla="*/ 0 w 42"/>
              <a:gd name="T1" fmla="*/ 2147483646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0 h 30"/>
              <a:gd name="T8" fmla="*/ 0 w 42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18"/>
                </a:moveTo>
                <a:lnTo>
                  <a:pt x="36" y="30"/>
                </a:lnTo>
                <a:lnTo>
                  <a:pt x="42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0" name="Freeform 71">
            <a:extLst>
              <a:ext uri="{FF2B5EF4-FFF2-40B4-BE49-F238E27FC236}">
                <a16:creationId xmlns:a16="http://schemas.microsoft.com/office/drawing/2014/main" id="{8A4EBC36-1914-27C2-5C74-0DB9B76FCB6E}"/>
              </a:ext>
            </a:extLst>
          </p:cNvPr>
          <p:cNvSpPr>
            <a:spLocks/>
          </p:cNvSpPr>
          <p:nvPr/>
        </p:nvSpPr>
        <p:spPr bwMode="auto">
          <a:xfrm>
            <a:off x="5057775" y="4067175"/>
            <a:ext cx="66675" cy="47625"/>
          </a:xfrm>
          <a:custGeom>
            <a:avLst/>
            <a:gdLst>
              <a:gd name="T0" fmla="*/ 0 w 42"/>
              <a:gd name="T1" fmla="*/ 2147483646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0 h 30"/>
              <a:gd name="T8" fmla="*/ 0 w 42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18"/>
                </a:moveTo>
                <a:lnTo>
                  <a:pt x="36" y="30"/>
                </a:lnTo>
                <a:lnTo>
                  <a:pt x="42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1" name="Freeform 72">
            <a:extLst>
              <a:ext uri="{FF2B5EF4-FFF2-40B4-BE49-F238E27FC236}">
                <a16:creationId xmlns:a16="http://schemas.microsoft.com/office/drawing/2014/main" id="{735CE3D5-8208-AAAC-FE14-34A9D877971A}"/>
              </a:ext>
            </a:extLst>
          </p:cNvPr>
          <p:cNvSpPr>
            <a:spLocks/>
          </p:cNvSpPr>
          <p:nvPr/>
        </p:nvSpPr>
        <p:spPr bwMode="auto">
          <a:xfrm>
            <a:off x="5210175" y="4105275"/>
            <a:ext cx="66675" cy="47625"/>
          </a:xfrm>
          <a:custGeom>
            <a:avLst/>
            <a:gdLst>
              <a:gd name="T0" fmla="*/ 0 w 42"/>
              <a:gd name="T1" fmla="*/ 2147483646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0 h 30"/>
              <a:gd name="T8" fmla="*/ 0 w 42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18"/>
                </a:moveTo>
                <a:lnTo>
                  <a:pt x="36" y="30"/>
                </a:lnTo>
                <a:lnTo>
                  <a:pt x="42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2" name="Freeform 73">
            <a:extLst>
              <a:ext uri="{FF2B5EF4-FFF2-40B4-BE49-F238E27FC236}">
                <a16:creationId xmlns:a16="http://schemas.microsoft.com/office/drawing/2014/main" id="{8EBB8A8D-F294-2FF2-BE12-C745077CA8A6}"/>
              </a:ext>
            </a:extLst>
          </p:cNvPr>
          <p:cNvSpPr>
            <a:spLocks/>
          </p:cNvSpPr>
          <p:nvPr/>
        </p:nvSpPr>
        <p:spPr bwMode="auto">
          <a:xfrm>
            <a:off x="5362575" y="4143375"/>
            <a:ext cx="66675" cy="38100"/>
          </a:xfrm>
          <a:custGeom>
            <a:avLst/>
            <a:gdLst>
              <a:gd name="T0" fmla="*/ 0 w 42"/>
              <a:gd name="T1" fmla="*/ 2147483646 h 24"/>
              <a:gd name="T2" fmla="*/ 2147483646 w 42"/>
              <a:gd name="T3" fmla="*/ 2147483646 h 24"/>
              <a:gd name="T4" fmla="*/ 2147483646 w 42"/>
              <a:gd name="T5" fmla="*/ 2147483646 h 24"/>
              <a:gd name="T6" fmla="*/ 2147483646 w 42"/>
              <a:gd name="T7" fmla="*/ 0 h 24"/>
              <a:gd name="T8" fmla="*/ 0 w 4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24"/>
              <a:gd name="T17" fmla="*/ 42 w 4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24">
                <a:moveTo>
                  <a:pt x="0" y="18"/>
                </a:moveTo>
                <a:lnTo>
                  <a:pt x="36" y="24"/>
                </a:lnTo>
                <a:lnTo>
                  <a:pt x="42" y="6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3" name="Freeform 74">
            <a:extLst>
              <a:ext uri="{FF2B5EF4-FFF2-40B4-BE49-F238E27FC236}">
                <a16:creationId xmlns:a16="http://schemas.microsoft.com/office/drawing/2014/main" id="{64B505A1-AA97-62EE-DF05-B0987653C9C3}"/>
              </a:ext>
            </a:extLst>
          </p:cNvPr>
          <p:cNvSpPr>
            <a:spLocks/>
          </p:cNvSpPr>
          <p:nvPr/>
        </p:nvSpPr>
        <p:spPr bwMode="auto">
          <a:xfrm>
            <a:off x="5514975" y="4181475"/>
            <a:ext cx="66675" cy="47625"/>
          </a:xfrm>
          <a:custGeom>
            <a:avLst/>
            <a:gdLst>
              <a:gd name="T0" fmla="*/ 0 w 42"/>
              <a:gd name="T1" fmla="*/ 2147483646 h 30"/>
              <a:gd name="T2" fmla="*/ 2147483646 w 42"/>
              <a:gd name="T3" fmla="*/ 2147483646 h 30"/>
              <a:gd name="T4" fmla="*/ 2147483646 w 42"/>
              <a:gd name="T5" fmla="*/ 2147483646 h 30"/>
              <a:gd name="T6" fmla="*/ 2147483646 w 42"/>
              <a:gd name="T7" fmla="*/ 0 h 30"/>
              <a:gd name="T8" fmla="*/ 0 w 42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30"/>
              <a:gd name="T17" fmla="*/ 42 w 42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30">
                <a:moveTo>
                  <a:pt x="0" y="18"/>
                </a:moveTo>
                <a:lnTo>
                  <a:pt x="36" y="30"/>
                </a:lnTo>
                <a:lnTo>
                  <a:pt x="42" y="12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4" name="Freeform 75">
            <a:extLst>
              <a:ext uri="{FF2B5EF4-FFF2-40B4-BE49-F238E27FC236}">
                <a16:creationId xmlns:a16="http://schemas.microsoft.com/office/drawing/2014/main" id="{EF311426-A55E-96AC-E80C-318DFDA03F18}"/>
              </a:ext>
            </a:extLst>
          </p:cNvPr>
          <p:cNvSpPr>
            <a:spLocks/>
          </p:cNvSpPr>
          <p:nvPr/>
        </p:nvSpPr>
        <p:spPr bwMode="auto">
          <a:xfrm>
            <a:off x="5676900" y="4229100"/>
            <a:ext cx="66675" cy="38100"/>
          </a:xfrm>
          <a:custGeom>
            <a:avLst/>
            <a:gdLst>
              <a:gd name="T0" fmla="*/ 0 w 42"/>
              <a:gd name="T1" fmla="*/ 2147483646 h 24"/>
              <a:gd name="T2" fmla="*/ 2147483646 w 42"/>
              <a:gd name="T3" fmla="*/ 2147483646 h 24"/>
              <a:gd name="T4" fmla="*/ 2147483646 w 42"/>
              <a:gd name="T5" fmla="*/ 2147483646 h 24"/>
              <a:gd name="T6" fmla="*/ 2147483646 w 42"/>
              <a:gd name="T7" fmla="*/ 0 h 24"/>
              <a:gd name="T8" fmla="*/ 0 w 4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24"/>
              <a:gd name="T17" fmla="*/ 42 w 4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24">
                <a:moveTo>
                  <a:pt x="0" y="18"/>
                </a:moveTo>
                <a:lnTo>
                  <a:pt x="36" y="24"/>
                </a:lnTo>
                <a:lnTo>
                  <a:pt x="42" y="6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5" name="Freeform 76">
            <a:extLst>
              <a:ext uri="{FF2B5EF4-FFF2-40B4-BE49-F238E27FC236}">
                <a16:creationId xmlns:a16="http://schemas.microsoft.com/office/drawing/2014/main" id="{41E542EA-563C-0354-BA43-1F9069A8E8CD}"/>
              </a:ext>
            </a:extLst>
          </p:cNvPr>
          <p:cNvSpPr>
            <a:spLocks/>
          </p:cNvSpPr>
          <p:nvPr/>
        </p:nvSpPr>
        <p:spPr bwMode="auto">
          <a:xfrm>
            <a:off x="5829300" y="4276725"/>
            <a:ext cx="66675" cy="38100"/>
          </a:xfrm>
          <a:custGeom>
            <a:avLst/>
            <a:gdLst>
              <a:gd name="T0" fmla="*/ 0 w 42"/>
              <a:gd name="T1" fmla="*/ 2147483646 h 24"/>
              <a:gd name="T2" fmla="*/ 2147483646 w 42"/>
              <a:gd name="T3" fmla="*/ 2147483646 h 24"/>
              <a:gd name="T4" fmla="*/ 2147483646 w 42"/>
              <a:gd name="T5" fmla="*/ 2147483646 h 24"/>
              <a:gd name="T6" fmla="*/ 2147483646 w 42"/>
              <a:gd name="T7" fmla="*/ 0 h 24"/>
              <a:gd name="T8" fmla="*/ 0 w 4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24"/>
              <a:gd name="T17" fmla="*/ 42 w 4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24">
                <a:moveTo>
                  <a:pt x="0" y="18"/>
                </a:moveTo>
                <a:lnTo>
                  <a:pt x="36" y="24"/>
                </a:lnTo>
                <a:lnTo>
                  <a:pt x="42" y="6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6" name="Freeform 77">
            <a:extLst>
              <a:ext uri="{FF2B5EF4-FFF2-40B4-BE49-F238E27FC236}">
                <a16:creationId xmlns:a16="http://schemas.microsoft.com/office/drawing/2014/main" id="{4276EC16-FE5F-1CA7-104C-80F868C4012D}"/>
              </a:ext>
            </a:extLst>
          </p:cNvPr>
          <p:cNvSpPr>
            <a:spLocks/>
          </p:cNvSpPr>
          <p:nvPr/>
        </p:nvSpPr>
        <p:spPr bwMode="auto">
          <a:xfrm>
            <a:off x="5981700" y="4314825"/>
            <a:ext cx="66675" cy="38100"/>
          </a:xfrm>
          <a:custGeom>
            <a:avLst/>
            <a:gdLst>
              <a:gd name="T0" fmla="*/ 0 w 42"/>
              <a:gd name="T1" fmla="*/ 2147483646 h 24"/>
              <a:gd name="T2" fmla="*/ 2147483646 w 42"/>
              <a:gd name="T3" fmla="*/ 2147483646 h 24"/>
              <a:gd name="T4" fmla="*/ 2147483646 w 42"/>
              <a:gd name="T5" fmla="*/ 2147483646 h 24"/>
              <a:gd name="T6" fmla="*/ 2147483646 w 42"/>
              <a:gd name="T7" fmla="*/ 0 h 24"/>
              <a:gd name="T8" fmla="*/ 0 w 42"/>
              <a:gd name="T9" fmla="*/ 2147483646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"/>
              <a:gd name="T16" fmla="*/ 0 h 24"/>
              <a:gd name="T17" fmla="*/ 42 w 42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" h="24">
                <a:moveTo>
                  <a:pt x="0" y="18"/>
                </a:moveTo>
                <a:lnTo>
                  <a:pt x="36" y="24"/>
                </a:lnTo>
                <a:lnTo>
                  <a:pt x="42" y="6"/>
                </a:lnTo>
                <a:lnTo>
                  <a:pt x="6" y="0"/>
                </a:lnTo>
                <a:lnTo>
                  <a:pt x="0" y="18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387" name="Rectangle 78">
            <a:extLst>
              <a:ext uri="{FF2B5EF4-FFF2-40B4-BE49-F238E27FC236}">
                <a16:creationId xmlns:a16="http://schemas.microsoft.com/office/drawing/2014/main" id="{EE253EEB-11C4-3ED7-2B63-B9680088F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4352925"/>
            <a:ext cx="9525" cy="28575"/>
          </a:xfrm>
          <a:prstGeom prst="rect">
            <a:avLst/>
          </a:prstGeom>
          <a:solidFill>
            <a:schemeClr val="hlink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88" name="Oval 79">
            <a:extLst>
              <a:ext uri="{FF2B5EF4-FFF2-40B4-BE49-F238E27FC236}">
                <a16:creationId xmlns:a16="http://schemas.microsoft.com/office/drawing/2014/main" id="{26F28686-C37C-1F65-002A-22859D655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781425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ja-JP" altLang="en-US" sz="4400">
              <a:solidFill>
                <a:schemeClr val="accent2"/>
              </a:solidFill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389" name="Oval 80">
            <a:extLst>
              <a:ext uri="{FF2B5EF4-FFF2-40B4-BE49-F238E27FC236}">
                <a16:creationId xmlns:a16="http://schemas.microsoft.com/office/drawing/2014/main" id="{BA628D41-786D-DF68-3B46-08E0E2122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975" y="4105275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0" name="Oval 81">
            <a:extLst>
              <a:ext uri="{FF2B5EF4-FFF2-40B4-BE49-F238E27FC236}">
                <a16:creationId xmlns:a16="http://schemas.microsoft.com/office/drawing/2014/main" id="{BD285446-004E-CBD4-A83D-E33381CA2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9075" y="4295775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1" name="Oval 82">
            <a:extLst>
              <a:ext uri="{FF2B5EF4-FFF2-40B4-BE49-F238E27FC236}">
                <a16:creationId xmlns:a16="http://schemas.microsoft.com/office/drawing/2014/main" id="{36973D9A-3336-560F-EB1B-466C029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4419600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2" name="Oval 83">
            <a:extLst>
              <a:ext uri="{FF2B5EF4-FFF2-40B4-BE49-F238E27FC236}">
                <a16:creationId xmlns:a16="http://schemas.microsoft.com/office/drawing/2014/main" id="{CD2975F6-B1C9-B1A8-36E6-D539569DF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4514850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3" name="Oval 84">
            <a:extLst>
              <a:ext uri="{FF2B5EF4-FFF2-40B4-BE49-F238E27FC236}">
                <a16:creationId xmlns:a16="http://schemas.microsoft.com/office/drawing/2014/main" id="{91382C99-4AB7-7154-18B9-5B97FAA1C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76775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4" name="Rectangle 85">
            <a:extLst>
              <a:ext uri="{FF2B5EF4-FFF2-40B4-BE49-F238E27FC236}">
                <a16:creationId xmlns:a16="http://schemas.microsoft.com/office/drawing/2014/main" id="{324D7831-98F2-F7C7-A555-A2F17A10D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925" y="3143250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5" name="Rectangle 86">
            <a:extLst>
              <a:ext uri="{FF2B5EF4-FFF2-40B4-BE49-F238E27FC236}">
                <a16:creationId xmlns:a16="http://schemas.microsoft.com/office/drawing/2014/main" id="{DAF27FD9-09C3-0CEF-9CAC-D4545DFC4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3629025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6" name="Rectangle 87">
            <a:extLst>
              <a:ext uri="{FF2B5EF4-FFF2-40B4-BE49-F238E27FC236}">
                <a16:creationId xmlns:a16="http://schemas.microsoft.com/office/drawing/2014/main" id="{A6DFF760-5F4B-5B72-1C13-430810594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914775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7" name="Rectangle 88">
            <a:extLst>
              <a:ext uri="{FF2B5EF4-FFF2-40B4-BE49-F238E27FC236}">
                <a16:creationId xmlns:a16="http://schemas.microsoft.com/office/drawing/2014/main" id="{8B917C07-D908-9856-7528-6A134F684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175" y="4114800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8" name="Rectangle 89">
            <a:extLst>
              <a:ext uri="{FF2B5EF4-FFF2-40B4-BE49-F238E27FC236}">
                <a16:creationId xmlns:a16="http://schemas.microsoft.com/office/drawing/2014/main" id="{99C4884A-706D-5375-9FA1-0A615288D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275" y="4248150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399" name="Rectangle 90">
            <a:extLst>
              <a:ext uri="{FF2B5EF4-FFF2-40B4-BE49-F238E27FC236}">
                <a16:creationId xmlns:a16="http://schemas.microsoft.com/office/drawing/2014/main" id="{2BC4974F-CDDA-B6CB-38D0-C8709F203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525" y="4495800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400" name="Freeform 91">
            <a:extLst>
              <a:ext uri="{FF2B5EF4-FFF2-40B4-BE49-F238E27FC236}">
                <a16:creationId xmlns:a16="http://schemas.microsoft.com/office/drawing/2014/main" id="{9286DF82-A1FD-4025-0465-89A298BBA55A}"/>
              </a:ext>
            </a:extLst>
          </p:cNvPr>
          <p:cNvSpPr>
            <a:spLocks/>
          </p:cNvSpPr>
          <p:nvPr/>
        </p:nvSpPr>
        <p:spPr bwMode="auto">
          <a:xfrm>
            <a:off x="3200400" y="2495550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01" name="Freeform 92">
            <a:extLst>
              <a:ext uri="{FF2B5EF4-FFF2-40B4-BE49-F238E27FC236}">
                <a16:creationId xmlns:a16="http://schemas.microsoft.com/office/drawing/2014/main" id="{031983F6-CB32-FDF8-6C55-DED0CD009A77}"/>
              </a:ext>
            </a:extLst>
          </p:cNvPr>
          <p:cNvSpPr>
            <a:spLocks/>
          </p:cNvSpPr>
          <p:nvPr/>
        </p:nvSpPr>
        <p:spPr bwMode="auto">
          <a:xfrm>
            <a:off x="3609975" y="3133725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02" name="Freeform 93">
            <a:extLst>
              <a:ext uri="{FF2B5EF4-FFF2-40B4-BE49-F238E27FC236}">
                <a16:creationId xmlns:a16="http://schemas.microsoft.com/office/drawing/2014/main" id="{59A3C7C7-1EB4-5F8A-12CB-933F9294DAF4}"/>
              </a:ext>
            </a:extLst>
          </p:cNvPr>
          <p:cNvSpPr>
            <a:spLocks/>
          </p:cNvSpPr>
          <p:nvPr/>
        </p:nvSpPr>
        <p:spPr bwMode="auto">
          <a:xfrm>
            <a:off x="4029075" y="3524250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03" name="Freeform 94">
            <a:extLst>
              <a:ext uri="{FF2B5EF4-FFF2-40B4-BE49-F238E27FC236}">
                <a16:creationId xmlns:a16="http://schemas.microsoft.com/office/drawing/2014/main" id="{D788EF06-E1D4-BD49-73A7-6A0939AFD920}"/>
              </a:ext>
            </a:extLst>
          </p:cNvPr>
          <p:cNvSpPr>
            <a:spLocks/>
          </p:cNvSpPr>
          <p:nvPr/>
        </p:nvSpPr>
        <p:spPr bwMode="auto">
          <a:xfrm>
            <a:off x="4438650" y="3781425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04" name="Freeform 95">
            <a:extLst>
              <a:ext uri="{FF2B5EF4-FFF2-40B4-BE49-F238E27FC236}">
                <a16:creationId xmlns:a16="http://schemas.microsoft.com/office/drawing/2014/main" id="{57A3A9A9-DDE5-E16D-F719-9914211CD40E}"/>
              </a:ext>
            </a:extLst>
          </p:cNvPr>
          <p:cNvSpPr>
            <a:spLocks/>
          </p:cNvSpPr>
          <p:nvPr/>
        </p:nvSpPr>
        <p:spPr bwMode="auto">
          <a:xfrm>
            <a:off x="4857750" y="3962400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05" name="Freeform 96">
            <a:extLst>
              <a:ext uri="{FF2B5EF4-FFF2-40B4-BE49-F238E27FC236}">
                <a16:creationId xmlns:a16="http://schemas.microsoft.com/office/drawing/2014/main" id="{ACA5E6CA-3739-29BC-38CA-15294AA07901}"/>
              </a:ext>
            </a:extLst>
          </p:cNvPr>
          <p:cNvSpPr>
            <a:spLocks/>
          </p:cNvSpPr>
          <p:nvPr/>
        </p:nvSpPr>
        <p:spPr bwMode="auto">
          <a:xfrm>
            <a:off x="6096000" y="4295775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06" name="Rectangle 97">
            <a:extLst>
              <a:ext uri="{FF2B5EF4-FFF2-40B4-BE49-F238E27FC236}">
                <a16:creationId xmlns:a16="http://schemas.microsoft.com/office/drawing/2014/main" id="{FF621ED4-9197-7535-2099-4ADED5F1C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4962525"/>
            <a:ext cx="423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0.0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07" name="Rectangle 98">
            <a:extLst>
              <a:ext uri="{FF2B5EF4-FFF2-40B4-BE49-F238E27FC236}">
                <a16:creationId xmlns:a16="http://schemas.microsoft.com/office/drawing/2014/main" id="{82431B37-5180-583A-74D2-7BE866AF8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4000500"/>
            <a:ext cx="423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0.5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08" name="Rectangle 99">
            <a:extLst>
              <a:ext uri="{FF2B5EF4-FFF2-40B4-BE49-F238E27FC236}">
                <a16:creationId xmlns:a16="http://schemas.microsoft.com/office/drawing/2014/main" id="{5F4AD55D-3490-D5A8-16B0-9161AB7EA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3028950"/>
            <a:ext cx="423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1.0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09" name="Rectangle 100">
            <a:extLst>
              <a:ext uri="{FF2B5EF4-FFF2-40B4-BE49-F238E27FC236}">
                <a16:creationId xmlns:a16="http://schemas.microsoft.com/office/drawing/2014/main" id="{C936E278-4114-6196-2E4A-AF37B786C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6925"/>
            <a:ext cx="423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1.5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0" name="Rectangle 101">
            <a:extLst>
              <a:ext uri="{FF2B5EF4-FFF2-40B4-BE49-F238E27FC236}">
                <a16:creationId xmlns:a16="http://schemas.microsoft.com/office/drawing/2014/main" id="{9E88A7C1-5F93-1BA1-230C-76258FE7B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5229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0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1" name="Rectangle 102">
            <a:extLst>
              <a:ext uri="{FF2B5EF4-FFF2-40B4-BE49-F238E27FC236}">
                <a16:creationId xmlns:a16="http://schemas.microsoft.com/office/drawing/2014/main" id="{92F5BBF6-E4A1-3791-2211-DCAF36708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5" y="5229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1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2" name="Rectangle 103">
            <a:extLst>
              <a:ext uri="{FF2B5EF4-FFF2-40B4-BE49-F238E27FC236}">
                <a16:creationId xmlns:a16="http://schemas.microsoft.com/office/drawing/2014/main" id="{A81424EF-9646-B565-D14C-4EF952CB4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5229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3" name="Rectangle 104">
            <a:extLst>
              <a:ext uri="{FF2B5EF4-FFF2-40B4-BE49-F238E27FC236}">
                <a16:creationId xmlns:a16="http://schemas.microsoft.com/office/drawing/2014/main" id="{68936EF3-A407-70A7-A85B-BA4360AF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275" y="5229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3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4" name="Rectangle 105">
            <a:extLst>
              <a:ext uri="{FF2B5EF4-FFF2-40B4-BE49-F238E27FC236}">
                <a16:creationId xmlns:a16="http://schemas.microsoft.com/office/drawing/2014/main" id="{31D0C736-8209-E4D6-AFCD-7C5467FF2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950" y="5229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4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5" name="Rectangle 106">
            <a:extLst>
              <a:ext uri="{FF2B5EF4-FFF2-40B4-BE49-F238E27FC236}">
                <a16:creationId xmlns:a16="http://schemas.microsoft.com/office/drawing/2014/main" id="{73615751-8DA7-9955-DABD-A882D9A2E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25" y="5229225"/>
            <a:ext cx="1698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400">
                <a:ea typeface="Arial Unicode MS" panose="020B0604020202020204" pitchFamily="34" charset="-128"/>
                <a:cs typeface="Arial Unicode MS" panose="020B0604020202020204" pitchFamily="34" charset="-128"/>
              </a:rPr>
              <a:t>5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6" name="Rectangle 107">
            <a:extLst>
              <a:ext uri="{FF2B5EF4-FFF2-40B4-BE49-F238E27FC236}">
                <a16:creationId xmlns:a16="http://schemas.microsoft.com/office/drawing/2014/main" id="{EC6844B8-6A0A-6E14-FDF4-6E8C1D0AF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5589588"/>
            <a:ext cx="1579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600">
                <a:ea typeface="Arial Unicode MS" panose="020B0604020202020204" pitchFamily="34" charset="-128"/>
                <a:cs typeface="Arial Unicode MS" panose="020B0604020202020204" pitchFamily="34" charset="-128"/>
              </a:rPr>
              <a:t>Delay (ps)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7" name="Rectangle 110">
            <a:extLst>
              <a:ext uri="{FF2B5EF4-FFF2-40B4-BE49-F238E27FC236}">
                <a16:creationId xmlns:a16="http://schemas.microsoft.com/office/drawing/2014/main" id="{D362FEDC-BE30-8801-459A-FFB317411E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96131" y="3632994"/>
            <a:ext cx="1897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ja-JP" altLang="en-US" sz="260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ja-JP" sz="2600">
                <a:ea typeface="Arial Unicode MS" panose="020B0604020202020204" pitchFamily="34" charset="-128"/>
                <a:cs typeface="Arial Unicode MS" panose="020B0604020202020204" pitchFamily="34" charset="-128"/>
              </a:rPr>
              <a:t>Power (</a:t>
            </a:r>
            <a:r>
              <a:rPr lang="en-US" altLang="ja-JP" sz="2600">
                <a:ea typeface="MS PGothic" panose="020B0600070205080204" pitchFamily="34" charset="-128"/>
                <a:cs typeface="Arial" panose="020B0604020202020204" pitchFamily="34" charset="0"/>
              </a:rPr>
              <a:t>µ</a:t>
            </a:r>
            <a:r>
              <a:rPr lang="en-US" altLang="ja-JP" sz="2600">
                <a:ea typeface="Arial Unicode MS" panose="020B0604020202020204" pitchFamily="34" charset="-128"/>
                <a:cs typeface="Arial Unicode MS" panose="020B0604020202020204" pitchFamily="34" charset="-128"/>
              </a:rPr>
              <a:t>W)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18" name="Line 111">
            <a:extLst>
              <a:ext uri="{FF2B5EF4-FFF2-40B4-BE49-F238E27FC236}">
                <a16:creationId xmlns:a16="http://schemas.microsoft.com/office/drawing/2014/main" id="{4DB4617B-A22B-A7C9-1F7A-97B0F9288C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279775"/>
            <a:ext cx="43815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KR"/>
          </a:p>
        </p:txBody>
      </p:sp>
      <p:sp>
        <p:nvSpPr>
          <p:cNvPr id="14419" name="Oval 112">
            <a:extLst>
              <a:ext uri="{FF2B5EF4-FFF2-40B4-BE49-F238E27FC236}">
                <a16:creationId xmlns:a16="http://schemas.microsoft.com/office/drawing/2014/main" id="{6F46CCD7-BFDF-7920-C43B-747D1C5F6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213100"/>
            <a:ext cx="133350" cy="13335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420" name="Rectangle 113">
            <a:extLst>
              <a:ext uri="{FF2B5EF4-FFF2-40B4-BE49-F238E27FC236}">
                <a16:creationId xmlns:a16="http://schemas.microsoft.com/office/drawing/2014/main" id="{1D4B9418-1846-9098-0F4E-4D126E4D2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2343150"/>
            <a:ext cx="9017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200">
                <a:ea typeface="Arial Unicode MS" panose="020B0604020202020204" pitchFamily="34" charset="-128"/>
                <a:cs typeface="Arial Unicode MS" panose="020B0604020202020204" pitchFamily="34" charset="-128"/>
              </a:rPr>
              <a:t>Case 1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21" name="Line 114">
            <a:extLst>
              <a:ext uri="{FF2B5EF4-FFF2-40B4-BE49-F238E27FC236}">
                <a16:creationId xmlns:a16="http://schemas.microsoft.com/office/drawing/2014/main" id="{05EC754B-C4D7-BC73-3C37-7C58D4837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86075"/>
            <a:ext cx="4381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KR"/>
          </a:p>
        </p:txBody>
      </p:sp>
      <p:sp>
        <p:nvSpPr>
          <p:cNvPr id="14422" name="Rectangle 115">
            <a:extLst>
              <a:ext uri="{FF2B5EF4-FFF2-40B4-BE49-F238E27FC236}">
                <a16:creationId xmlns:a16="http://schemas.microsoft.com/office/drawing/2014/main" id="{FB75ABE1-8E41-09D6-13DA-96BD696DB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2828925"/>
            <a:ext cx="114300" cy="1143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423" name="Rectangle 116">
            <a:extLst>
              <a:ext uri="{FF2B5EF4-FFF2-40B4-BE49-F238E27FC236}">
                <a16:creationId xmlns:a16="http://schemas.microsoft.com/office/drawing/2014/main" id="{FAE8D008-4A77-4F5C-53BC-12166CDA0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2724150"/>
            <a:ext cx="9017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200">
                <a:ea typeface="Arial Unicode MS" panose="020B0604020202020204" pitchFamily="34" charset="-128"/>
                <a:cs typeface="Arial Unicode MS" panose="020B0604020202020204" pitchFamily="34" charset="-128"/>
              </a:rPr>
              <a:t>Case 2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424" name="Rectangle 117">
            <a:extLst>
              <a:ext uri="{FF2B5EF4-FFF2-40B4-BE49-F238E27FC236}">
                <a16:creationId xmlns:a16="http://schemas.microsoft.com/office/drawing/2014/main" id="{C9A5F94E-7F89-28E3-46F6-58FB31DBD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2489200"/>
            <a:ext cx="57150" cy="28575"/>
          </a:xfrm>
          <a:prstGeom prst="rect">
            <a:avLst/>
          </a:prstGeom>
          <a:solidFill>
            <a:schemeClr val="hlink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425" name="Rectangle 118">
            <a:extLst>
              <a:ext uri="{FF2B5EF4-FFF2-40B4-BE49-F238E27FC236}">
                <a16:creationId xmlns:a16="http://schemas.microsoft.com/office/drawing/2014/main" id="{EF5F02EC-B1D6-F659-9DE1-C74333588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638" y="2489200"/>
            <a:ext cx="57150" cy="28575"/>
          </a:xfrm>
          <a:prstGeom prst="rect">
            <a:avLst/>
          </a:prstGeom>
          <a:solidFill>
            <a:schemeClr val="hlink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426" name="Rectangle 119">
            <a:extLst>
              <a:ext uri="{FF2B5EF4-FFF2-40B4-BE49-F238E27FC236}">
                <a16:creationId xmlns:a16="http://schemas.microsoft.com/office/drawing/2014/main" id="{2F758D9D-9B51-F99E-334A-75C56EEE2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2489200"/>
            <a:ext cx="57150" cy="28575"/>
          </a:xfrm>
          <a:prstGeom prst="rect">
            <a:avLst/>
          </a:prstGeom>
          <a:solidFill>
            <a:schemeClr val="hlink"/>
          </a:solidFill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ko-KR" altLang="en-US" sz="2400">
              <a:solidFill>
                <a:schemeClr val="tx2"/>
              </a:solidFill>
            </a:endParaRPr>
          </a:p>
        </p:txBody>
      </p:sp>
      <p:sp>
        <p:nvSpPr>
          <p:cNvPr id="14427" name="Freeform 120">
            <a:extLst>
              <a:ext uri="{FF2B5EF4-FFF2-40B4-BE49-F238E27FC236}">
                <a16:creationId xmlns:a16="http://schemas.microsoft.com/office/drawing/2014/main" id="{F403ED5A-EF1E-7AE9-EC4B-A95EB9B9CF61}"/>
              </a:ext>
            </a:extLst>
          </p:cNvPr>
          <p:cNvSpPr>
            <a:spLocks/>
          </p:cNvSpPr>
          <p:nvPr/>
        </p:nvSpPr>
        <p:spPr bwMode="auto">
          <a:xfrm>
            <a:off x="5345113" y="2432050"/>
            <a:ext cx="133350" cy="133350"/>
          </a:xfrm>
          <a:custGeom>
            <a:avLst/>
            <a:gdLst>
              <a:gd name="T0" fmla="*/ 2147483646 w 84"/>
              <a:gd name="T1" fmla="*/ 0 h 84"/>
              <a:gd name="T2" fmla="*/ 2147483646 w 84"/>
              <a:gd name="T3" fmla="*/ 2147483646 h 84"/>
              <a:gd name="T4" fmla="*/ 0 w 84"/>
              <a:gd name="T5" fmla="*/ 2147483646 h 84"/>
              <a:gd name="T6" fmla="*/ 2147483646 w 84"/>
              <a:gd name="T7" fmla="*/ 0 h 84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84"/>
              <a:gd name="T14" fmla="*/ 84 w 84"/>
              <a:gd name="T15" fmla="*/ 84 h 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84">
                <a:moveTo>
                  <a:pt x="42" y="0"/>
                </a:moveTo>
                <a:lnTo>
                  <a:pt x="84" y="84"/>
                </a:lnTo>
                <a:lnTo>
                  <a:pt x="0" y="84"/>
                </a:lnTo>
                <a:lnTo>
                  <a:pt x="42" y="0"/>
                </a:lnTo>
                <a:close/>
              </a:path>
            </a:pathLst>
          </a:custGeom>
          <a:solidFill>
            <a:schemeClr val="hlink"/>
          </a:solidFill>
          <a:ln w="28575" cmpd="sng">
            <a:solidFill>
              <a:schemeClr val="hlink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R"/>
          </a:p>
        </p:txBody>
      </p:sp>
      <p:sp>
        <p:nvSpPr>
          <p:cNvPr id="14428" name="Rectangle 121">
            <a:extLst>
              <a:ext uri="{FF2B5EF4-FFF2-40B4-BE49-F238E27FC236}">
                <a16:creationId xmlns:a16="http://schemas.microsoft.com/office/drawing/2014/main" id="{D5E80398-DA87-D4BB-0663-59A94E527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6425" y="3105150"/>
            <a:ext cx="9017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2200">
                <a:ea typeface="Arial Unicode MS" panose="020B0604020202020204" pitchFamily="34" charset="-128"/>
                <a:cs typeface="Arial Unicode MS" panose="020B0604020202020204" pitchFamily="34" charset="-128"/>
              </a:rPr>
              <a:t>Case 3</a:t>
            </a:r>
            <a:endParaRPr lang="en-US" altLang="ja-JP" sz="440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4429" name="Group 123">
            <a:extLst>
              <a:ext uri="{FF2B5EF4-FFF2-40B4-BE49-F238E27FC236}">
                <a16:creationId xmlns:a16="http://schemas.microsoft.com/office/drawing/2014/main" id="{81C416E1-0D29-3FBA-93AA-9E5F2B165895}"/>
              </a:ext>
            </a:extLst>
          </p:cNvPr>
          <p:cNvGrpSpPr>
            <a:grpSpLocks/>
          </p:cNvGrpSpPr>
          <p:nvPr/>
        </p:nvGrpSpPr>
        <p:grpSpPr bwMode="auto">
          <a:xfrm>
            <a:off x="2847975" y="2238375"/>
            <a:ext cx="4144963" cy="95250"/>
            <a:chOff x="1794" y="3234"/>
            <a:chExt cx="2611" cy="60"/>
          </a:xfrm>
        </p:grpSpPr>
        <p:sp>
          <p:nvSpPr>
            <p:cNvPr id="14451" name="Line 124">
              <a:extLst>
                <a:ext uri="{FF2B5EF4-FFF2-40B4-BE49-F238E27FC236}">
                  <a16:creationId xmlns:a16="http://schemas.microsoft.com/office/drawing/2014/main" id="{24849C04-3CAD-A7A1-79F6-9A4D5175E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4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2" name="Line 125">
              <a:extLst>
                <a:ext uri="{FF2B5EF4-FFF2-40B4-BE49-F238E27FC236}">
                  <a16:creationId xmlns:a16="http://schemas.microsoft.com/office/drawing/2014/main" id="{F7CCCC80-56CF-0269-5B5A-830601BA01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6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3" name="Line 126">
              <a:extLst>
                <a:ext uri="{FF2B5EF4-FFF2-40B4-BE49-F238E27FC236}">
                  <a16:creationId xmlns:a16="http://schemas.microsoft.com/office/drawing/2014/main" id="{63343B68-BD7B-E2D3-D66C-1336BAF332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8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4" name="Line 127">
              <a:extLst>
                <a:ext uri="{FF2B5EF4-FFF2-40B4-BE49-F238E27FC236}">
                  <a16:creationId xmlns:a16="http://schemas.microsoft.com/office/drawing/2014/main" id="{6562429E-1639-2720-29AF-DE8DE5501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5" name="Line 128">
              <a:extLst>
                <a:ext uri="{FF2B5EF4-FFF2-40B4-BE49-F238E27FC236}">
                  <a16:creationId xmlns:a16="http://schemas.microsoft.com/office/drawing/2014/main" id="{AF32E8C0-F28F-BF44-8F2F-42D5F0A024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2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6" name="Line 129">
              <a:extLst>
                <a:ext uri="{FF2B5EF4-FFF2-40B4-BE49-F238E27FC236}">
                  <a16:creationId xmlns:a16="http://schemas.microsoft.com/office/drawing/2014/main" id="{7F59E176-FF4D-5407-CB76-7F116B707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4" y="3234"/>
              <a:ext cx="1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</p:grpSp>
      <p:grpSp>
        <p:nvGrpSpPr>
          <p:cNvPr id="14430" name="Group 131">
            <a:extLst>
              <a:ext uri="{FF2B5EF4-FFF2-40B4-BE49-F238E27FC236}">
                <a16:creationId xmlns:a16="http://schemas.microsoft.com/office/drawing/2014/main" id="{956D1B65-4930-A7B1-4285-93A8FC2AC325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2238375"/>
            <a:ext cx="95250" cy="2897188"/>
            <a:chOff x="1734" y="1410"/>
            <a:chExt cx="60" cy="1825"/>
          </a:xfrm>
        </p:grpSpPr>
        <p:sp>
          <p:nvSpPr>
            <p:cNvPr id="14431" name="Line 132">
              <a:extLst>
                <a:ext uri="{FF2B5EF4-FFF2-40B4-BE49-F238E27FC236}">
                  <a16:creationId xmlns:a16="http://schemas.microsoft.com/office/drawing/2014/main" id="{46987E31-3135-5A09-8254-F2B12B10A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234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2" name="Line 133">
              <a:extLst>
                <a:ext uri="{FF2B5EF4-FFF2-40B4-BE49-F238E27FC236}">
                  <a16:creationId xmlns:a16="http://schemas.microsoft.com/office/drawing/2014/main" id="{DFABC3E6-2A63-F21E-4342-E227C51B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3114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3" name="Line 134">
              <a:extLst>
                <a:ext uri="{FF2B5EF4-FFF2-40B4-BE49-F238E27FC236}">
                  <a16:creationId xmlns:a16="http://schemas.microsoft.com/office/drawing/2014/main" id="{5BA8151A-59BC-79CD-3753-C85282574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98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4" name="Line 135">
              <a:extLst>
                <a:ext uri="{FF2B5EF4-FFF2-40B4-BE49-F238E27FC236}">
                  <a16:creationId xmlns:a16="http://schemas.microsoft.com/office/drawing/2014/main" id="{11D1D824-9AD8-EFC6-87B1-FA2EA1CB2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86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5" name="Line 136">
              <a:extLst>
                <a:ext uri="{FF2B5EF4-FFF2-40B4-BE49-F238E27FC236}">
                  <a16:creationId xmlns:a16="http://schemas.microsoft.com/office/drawing/2014/main" id="{F2CD4FF6-3C89-9835-17E0-3A3AC73D7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74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6" name="Line 137">
              <a:extLst>
                <a:ext uri="{FF2B5EF4-FFF2-40B4-BE49-F238E27FC236}">
                  <a16:creationId xmlns:a16="http://schemas.microsoft.com/office/drawing/2014/main" id="{88ADD161-2475-68DA-4213-C9FF396F22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628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7" name="Line 138">
              <a:extLst>
                <a:ext uri="{FF2B5EF4-FFF2-40B4-BE49-F238E27FC236}">
                  <a16:creationId xmlns:a16="http://schemas.microsoft.com/office/drawing/2014/main" id="{CB80BCD6-8A06-CE74-CD42-C8245BA10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50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8" name="Line 139">
              <a:extLst>
                <a:ext uri="{FF2B5EF4-FFF2-40B4-BE49-F238E27FC236}">
                  <a16:creationId xmlns:a16="http://schemas.microsoft.com/office/drawing/2014/main" id="{C854A2E0-89AF-1333-6AFB-EFB6F5C52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38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39" name="Line 140">
              <a:extLst>
                <a:ext uri="{FF2B5EF4-FFF2-40B4-BE49-F238E27FC236}">
                  <a16:creationId xmlns:a16="http://schemas.microsoft.com/office/drawing/2014/main" id="{84C7E2EE-2625-15C9-17C5-A0FDFAA46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26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0" name="Line 141">
              <a:extLst>
                <a:ext uri="{FF2B5EF4-FFF2-40B4-BE49-F238E27FC236}">
                  <a16:creationId xmlns:a16="http://schemas.microsoft.com/office/drawing/2014/main" id="{2168132E-1182-7AEC-41E5-2F9CF6E32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142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1" name="Line 142">
              <a:extLst>
                <a:ext uri="{FF2B5EF4-FFF2-40B4-BE49-F238E27FC236}">
                  <a16:creationId xmlns:a16="http://schemas.microsoft.com/office/drawing/2014/main" id="{2CCE7052-9676-8009-21F5-71D2E3636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201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2" name="Line 143">
              <a:extLst>
                <a:ext uri="{FF2B5EF4-FFF2-40B4-BE49-F238E27FC236}">
                  <a16:creationId xmlns:a16="http://schemas.microsoft.com/office/drawing/2014/main" id="{63655CA9-D027-7FF1-7E4C-3917693E4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89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3" name="Line 144">
              <a:extLst>
                <a:ext uri="{FF2B5EF4-FFF2-40B4-BE49-F238E27FC236}">
                  <a16:creationId xmlns:a16="http://schemas.microsoft.com/office/drawing/2014/main" id="{3B16E42E-A4FE-15A5-099C-074054229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77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4" name="Line 145">
              <a:extLst>
                <a:ext uri="{FF2B5EF4-FFF2-40B4-BE49-F238E27FC236}">
                  <a16:creationId xmlns:a16="http://schemas.microsoft.com/office/drawing/2014/main" id="{EECE3A34-0817-0211-DEE1-C7FCCFEB2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656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5" name="Line 146">
              <a:extLst>
                <a:ext uri="{FF2B5EF4-FFF2-40B4-BE49-F238E27FC236}">
                  <a16:creationId xmlns:a16="http://schemas.microsoft.com/office/drawing/2014/main" id="{7C1F31F5-02A3-77D8-A373-8B3BC2C08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530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6" name="Line 147">
              <a:extLst>
                <a:ext uri="{FF2B5EF4-FFF2-40B4-BE49-F238E27FC236}">
                  <a16:creationId xmlns:a16="http://schemas.microsoft.com/office/drawing/2014/main" id="{F2064821-33B1-9FB7-A02B-2E096C70C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6" y="1410"/>
              <a:ext cx="4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7" name="Line 148">
              <a:extLst>
                <a:ext uri="{FF2B5EF4-FFF2-40B4-BE49-F238E27FC236}">
                  <a16:creationId xmlns:a16="http://schemas.microsoft.com/office/drawing/2014/main" id="{566153E2-5C6E-C80E-9B2A-D3B918EA6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3234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8" name="Line 149">
              <a:extLst>
                <a:ext uri="{FF2B5EF4-FFF2-40B4-BE49-F238E27FC236}">
                  <a16:creationId xmlns:a16="http://schemas.microsoft.com/office/drawing/2014/main" id="{85E31C94-6076-4FCF-64B1-AD89D03F1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2628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49" name="Line 150">
              <a:extLst>
                <a:ext uri="{FF2B5EF4-FFF2-40B4-BE49-F238E27FC236}">
                  <a16:creationId xmlns:a16="http://schemas.microsoft.com/office/drawing/2014/main" id="{C305FF4A-B913-EF02-B73E-F676631297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2016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  <p:sp>
          <p:nvSpPr>
            <p:cNvPr id="14450" name="Line 151">
              <a:extLst>
                <a:ext uri="{FF2B5EF4-FFF2-40B4-BE49-F238E27FC236}">
                  <a16:creationId xmlns:a16="http://schemas.microsoft.com/office/drawing/2014/main" id="{A80C166A-BD6F-2D26-31F9-D7E89FADA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4" y="1410"/>
              <a:ext cx="6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KR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3">
            <a:extLst>
              <a:ext uri="{FF2B5EF4-FFF2-40B4-BE49-F238E27FC236}">
                <a16:creationId xmlns:a16="http://schemas.microsoft.com/office/drawing/2014/main" id="{E34D97D1-D80E-DE4A-339E-E6CF5D4CF9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7969B5-A6A0-BA4A-B898-234646B6422F}" type="slidenum">
              <a:rPr lang="ja-JP" altLang="en-US" sz="1800" b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ja-JP" sz="1800" b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A4C93FA3-3F33-A790-606C-63E2B56B6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Example of a bad figure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19A9D5E-3EEB-E5C3-119B-237AF6224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648200"/>
          </a:xfrm>
        </p:spPr>
        <p:txBody>
          <a:bodyPr/>
          <a:lstStyle/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Fonts &amp; lines too small </a:t>
            </a:r>
          </a:p>
          <a:p>
            <a:r>
              <a:rPr lang="en-US" altLang="ja-JP">
                <a:ea typeface="Arial Unicode MS" panose="020B0604020202020204" pitchFamily="34" charset="-128"/>
                <a:cs typeface="Arial Unicode MS" panose="020B0604020202020204" pitchFamily="34" charset="-128"/>
              </a:rPr>
              <a:t>Colors difficult to read</a:t>
            </a:r>
          </a:p>
        </p:txBody>
      </p:sp>
      <p:pic>
        <p:nvPicPr>
          <p:cNvPr id="15365" name="Picture 4">
            <a:extLst>
              <a:ext uri="{FF2B5EF4-FFF2-40B4-BE49-F238E27FC236}">
                <a16:creationId xmlns:a16="http://schemas.microsoft.com/office/drawing/2014/main" id="{E660A28F-51EC-5E28-85D0-3129CBF79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2565400"/>
            <a:ext cx="41910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9900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CAAA"/>
      </a:accent5>
      <a:accent6>
        <a:srgbClr val="0000E7"/>
      </a:accent6>
      <a:hlink>
        <a:srgbClr val="FF0000"/>
      </a:hlink>
      <a:folHlink>
        <a:srgbClr val="969696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1536</Words>
  <Application>Microsoft Macintosh PowerPoint</Application>
  <PresentationFormat>Letter Paper (8.5x11 in)</PresentationFormat>
  <Paragraphs>311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굴림</vt:lpstr>
      <vt:lpstr>Times New Roman</vt:lpstr>
      <vt:lpstr>Arial Unicode MS</vt:lpstr>
      <vt:lpstr>Century</vt:lpstr>
      <vt:lpstr>Arial Narrow</vt:lpstr>
      <vt:lpstr>MS PGothic</vt:lpstr>
      <vt:lpstr>Default Design</vt:lpstr>
      <vt:lpstr>Retrofitting Operating System Security for Modern Hardware Protections</vt:lpstr>
      <vt:lpstr>Outline</vt:lpstr>
      <vt:lpstr>PowerPoint Presentation</vt:lpstr>
      <vt:lpstr>OS Protection</vt:lpstr>
      <vt:lpstr>Limitations of OS Protection</vt:lpstr>
      <vt:lpstr>Modern hardware protection</vt:lpstr>
      <vt:lpstr>PowerPoint Presentation</vt:lpstr>
      <vt:lpstr>What can go wrong?</vt:lpstr>
      <vt:lpstr>Problem: Protection Inconherencies</vt:lpstr>
      <vt:lpstr>This Thesis</vt:lpstr>
      <vt:lpstr>Modern hardware protection</vt:lpstr>
      <vt:lpstr>PowerPoint Presentation</vt:lpstr>
      <vt:lpstr>Limitations of OS Protection</vt:lpstr>
      <vt:lpstr>Software are increasingly complex</vt:lpstr>
      <vt:lpstr>Consequences</vt:lpstr>
      <vt:lpstr>Need for fine-grained isolation</vt:lpstr>
      <vt:lpstr>Limitation of process isolation</vt:lpstr>
      <vt:lpstr>Limitation of process isolation</vt:lpstr>
      <vt:lpstr>In-process Isolation Primities</vt:lpstr>
      <vt:lpstr>OS Protection in Modern World</vt:lpstr>
      <vt:lpstr>Need for trust in cloud</vt:lpstr>
      <vt:lpstr>Need for trust in cloud</vt:lpstr>
      <vt:lpstr>Trusted Execution</vt:lpstr>
      <vt:lpstr>Modern hardware protection</vt:lpstr>
      <vt:lpstr>Summary: Trends in HW Protection</vt:lpstr>
      <vt:lpstr>PowerPoint Presentation</vt:lpstr>
      <vt:lpstr>Proposal: Coherent protection</vt:lpstr>
      <vt:lpstr>Trusted Execution</vt:lpstr>
      <vt:lpstr>PowerPoint Presentation</vt:lpstr>
      <vt:lpstr>PowerPoint Presentation</vt:lpstr>
      <vt:lpstr>Introduction</vt:lpstr>
      <vt:lpstr>PowerPoint Presentation</vt:lpstr>
      <vt:lpstr>Background</vt:lpstr>
      <vt:lpstr>Page setup</vt:lpstr>
      <vt:lpstr>Fonts</vt:lpstr>
      <vt:lpstr>Colors</vt:lpstr>
      <vt:lpstr>Example: color and font choices</vt:lpstr>
      <vt:lpstr>General guideline</vt:lpstr>
      <vt:lpstr>Text slides</vt:lpstr>
      <vt:lpstr>Graphs and figures</vt:lpstr>
      <vt:lpstr>Example of a good figure</vt:lpstr>
      <vt:lpstr>Example of a bad figure</vt:lpstr>
    </vt:vector>
  </TitlesOfParts>
  <Company>A-SSCC 2005 TPC chair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preparation</dc:title>
  <dc:creator>Takayasu Sakurai</dc:creator>
  <cp:lastModifiedBy>Hamster Hamster</cp:lastModifiedBy>
  <cp:revision>237</cp:revision>
  <cp:lastPrinted>2000-02-16T19:06:58Z</cp:lastPrinted>
  <dcterms:created xsi:type="dcterms:W3CDTF">1999-04-05T18:00:54Z</dcterms:created>
  <dcterms:modified xsi:type="dcterms:W3CDTF">2025-11-27T11:18:39Z</dcterms:modified>
</cp:coreProperties>
</file>